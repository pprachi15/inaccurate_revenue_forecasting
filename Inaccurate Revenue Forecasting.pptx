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1" r:id="rId4"/>
    <p:sldId id="263" r:id="rId5"/>
    <p:sldId id="262" r:id="rId6"/>
    <p:sldId id="264" r:id="rId7"/>
    <p:sldId id="266" r:id="rId8"/>
    <p:sldId id="273" r:id="rId9"/>
    <p:sldId id="274" r:id="rId10"/>
    <p:sldId id="275" r:id="rId11"/>
    <p:sldId id="276" r:id="rId12"/>
    <p:sldId id="265" r:id="rId13"/>
    <p:sldId id="271" r:id="rId14"/>
    <p:sldId id="272"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5A3A"/>
    <a:srgbClr val="F5F0E7"/>
    <a:srgbClr val="AB79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79"/>
    <p:restoredTop sz="94662"/>
  </p:normalViewPr>
  <p:slideViewPr>
    <p:cSldViewPr snapToGrid="0">
      <p:cViewPr varScale="1">
        <p:scale>
          <a:sx n="140" d="100"/>
          <a:sy n="140" d="100"/>
        </p:scale>
        <p:origin x="4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84954-9791-9243-8D9A-83C1B8968E95}" type="datetimeFigureOut">
              <a:rPr lang="en-US" smtClean="0"/>
              <a:t>11/29/25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591EA-5938-D64E-A620-DF043F04C7E3}" type="slidenum">
              <a:rPr lang="en-US" smtClean="0"/>
              <a:t>‹#›</a:t>
            </a:fld>
            <a:endParaRPr lang="en-US"/>
          </a:p>
        </p:txBody>
      </p:sp>
    </p:spTree>
    <p:extLst>
      <p:ext uri="{BB962C8B-B14F-4D97-AF65-F5344CB8AC3E}">
        <p14:creationId xmlns:p14="http://schemas.microsoft.com/office/powerpoint/2010/main" val="354558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5591EA-5938-D64E-A620-DF043F04C7E3}" type="slidenum">
              <a:rPr lang="en-US" smtClean="0"/>
              <a:t>2</a:t>
            </a:fld>
            <a:endParaRPr lang="en-US"/>
          </a:p>
        </p:txBody>
      </p:sp>
    </p:spTree>
    <p:extLst>
      <p:ext uri="{BB962C8B-B14F-4D97-AF65-F5344CB8AC3E}">
        <p14:creationId xmlns:p14="http://schemas.microsoft.com/office/powerpoint/2010/main" val="3608510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39A2B-D6A4-5721-54FE-280FAA12F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6C39D-4237-9692-45D7-380B528C3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D482C-4A20-09D9-C693-DD03CEE378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9479F9-CFFB-ED1F-70C0-A510FE260CE4}"/>
              </a:ext>
            </a:extLst>
          </p:cNvPr>
          <p:cNvSpPr>
            <a:spLocks noGrp="1"/>
          </p:cNvSpPr>
          <p:nvPr>
            <p:ph type="sldNum" sz="quarter" idx="5"/>
          </p:nvPr>
        </p:nvSpPr>
        <p:spPr/>
        <p:txBody>
          <a:bodyPr/>
          <a:lstStyle/>
          <a:p>
            <a:fld id="{BA5591EA-5938-D64E-A620-DF043F04C7E3}" type="slidenum">
              <a:rPr lang="en-US" smtClean="0"/>
              <a:t>3</a:t>
            </a:fld>
            <a:endParaRPr lang="en-US"/>
          </a:p>
        </p:txBody>
      </p:sp>
    </p:spTree>
    <p:extLst>
      <p:ext uri="{BB962C8B-B14F-4D97-AF65-F5344CB8AC3E}">
        <p14:creationId xmlns:p14="http://schemas.microsoft.com/office/powerpoint/2010/main" val="3289117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60F1-D213-2A2D-6B68-CB559238B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4F96A-674A-3A8E-A6C7-EDC5EB490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7EE6F-DC42-065D-BF94-50DECA197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653E0F-AB59-1FF6-8745-5D4C04087578}"/>
              </a:ext>
            </a:extLst>
          </p:cNvPr>
          <p:cNvSpPr>
            <a:spLocks noGrp="1"/>
          </p:cNvSpPr>
          <p:nvPr>
            <p:ph type="sldNum" sz="quarter" idx="5"/>
          </p:nvPr>
        </p:nvSpPr>
        <p:spPr/>
        <p:txBody>
          <a:bodyPr/>
          <a:lstStyle/>
          <a:p>
            <a:fld id="{BA5591EA-5938-D64E-A620-DF043F04C7E3}" type="slidenum">
              <a:rPr lang="en-US" smtClean="0"/>
              <a:t>4</a:t>
            </a:fld>
            <a:endParaRPr lang="en-US"/>
          </a:p>
        </p:txBody>
      </p:sp>
    </p:spTree>
    <p:extLst>
      <p:ext uri="{BB962C8B-B14F-4D97-AF65-F5344CB8AC3E}">
        <p14:creationId xmlns:p14="http://schemas.microsoft.com/office/powerpoint/2010/main" val="410299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5F7E-D7D0-E24C-4A60-62AB514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211DC-C3DB-AC7C-02EE-699ED29BC4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6B7F3-0C14-2C76-215E-5AEB8CC063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C816E3-4F5A-F0F9-6A8E-C9CDF48B6F83}"/>
              </a:ext>
            </a:extLst>
          </p:cNvPr>
          <p:cNvSpPr>
            <a:spLocks noGrp="1"/>
          </p:cNvSpPr>
          <p:nvPr>
            <p:ph type="sldNum" sz="quarter" idx="5"/>
          </p:nvPr>
        </p:nvSpPr>
        <p:spPr/>
        <p:txBody>
          <a:bodyPr/>
          <a:lstStyle/>
          <a:p>
            <a:fld id="{BA5591EA-5938-D64E-A620-DF043F04C7E3}" type="slidenum">
              <a:rPr lang="en-US" smtClean="0"/>
              <a:t>5</a:t>
            </a:fld>
            <a:endParaRPr lang="en-US"/>
          </a:p>
        </p:txBody>
      </p:sp>
    </p:spTree>
    <p:extLst>
      <p:ext uri="{BB962C8B-B14F-4D97-AF65-F5344CB8AC3E}">
        <p14:creationId xmlns:p14="http://schemas.microsoft.com/office/powerpoint/2010/main" val="140138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E87EC-3EF4-502B-ED17-BC18BD557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D2A21-A16A-4532-8C5C-74A42CC5C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04F1E-D8D4-2267-2FDC-08754D883A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6F494-3158-C159-E351-6DC4E6341DA7}"/>
              </a:ext>
            </a:extLst>
          </p:cNvPr>
          <p:cNvSpPr>
            <a:spLocks noGrp="1"/>
          </p:cNvSpPr>
          <p:nvPr>
            <p:ph type="sldNum" sz="quarter" idx="5"/>
          </p:nvPr>
        </p:nvSpPr>
        <p:spPr/>
        <p:txBody>
          <a:bodyPr/>
          <a:lstStyle/>
          <a:p>
            <a:fld id="{BA5591EA-5938-D64E-A620-DF043F04C7E3}" type="slidenum">
              <a:rPr lang="en-US" smtClean="0"/>
              <a:t>6</a:t>
            </a:fld>
            <a:endParaRPr lang="en-US"/>
          </a:p>
        </p:txBody>
      </p:sp>
    </p:spTree>
    <p:extLst>
      <p:ext uri="{BB962C8B-B14F-4D97-AF65-F5344CB8AC3E}">
        <p14:creationId xmlns:p14="http://schemas.microsoft.com/office/powerpoint/2010/main" val="1684617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DAB0-7937-E254-4E31-92C01D34D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A78B5-62D9-DE88-988F-AB58DEA35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F1828-82CE-2FD4-F834-ACDCE73DA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78ED1-D44A-8EC3-0596-84548B4F9F28}"/>
              </a:ext>
            </a:extLst>
          </p:cNvPr>
          <p:cNvSpPr>
            <a:spLocks noGrp="1"/>
          </p:cNvSpPr>
          <p:nvPr>
            <p:ph type="sldNum" sz="quarter" idx="5"/>
          </p:nvPr>
        </p:nvSpPr>
        <p:spPr/>
        <p:txBody>
          <a:bodyPr/>
          <a:lstStyle/>
          <a:p>
            <a:fld id="{BA5591EA-5938-D64E-A620-DF043F04C7E3}" type="slidenum">
              <a:rPr lang="en-US" smtClean="0"/>
              <a:t>7</a:t>
            </a:fld>
            <a:endParaRPr lang="en-US"/>
          </a:p>
        </p:txBody>
      </p:sp>
    </p:spTree>
    <p:extLst>
      <p:ext uri="{BB962C8B-B14F-4D97-AF65-F5344CB8AC3E}">
        <p14:creationId xmlns:p14="http://schemas.microsoft.com/office/powerpoint/2010/main" val="2619855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C3D14-C31C-4175-0B2B-E10280E35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359DA-A8FD-7BF8-094B-15E07182E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86866-553E-B020-88C5-0F6E96E6DA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5FA8D-4045-FD19-16ED-6B63A98D89B0}"/>
              </a:ext>
            </a:extLst>
          </p:cNvPr>
          <p:cNvSpPr>
            <a:spLocks noGrp="1"/>
          </p:cNvSpPr>
          <p:nvPr>
            <p:ph type="sldNum" sz="quarter" idx="5"/>
          </p:nvPr>
        </p:nvSpPr>
        <p:spPr/>
        <p:txBody>
          <a:bodyPr/>
          <a:lstStyle/>
          <a:p>
            <a:fld id="{BA5591EA-5938-D64E-A620-DF043F04C7E3}" type="slidenum">
              <a:rPr lang="en-US" smtClean="0"/>
              <a:t>8</a:t>
            </a:fld>
            <a:endParaRPr lang="en-US"/>
          </a:p>
        </p:txBody>
      </p:sp>
    </p:spTree>
    <p:extLst>
      <p:ext uri="{BB962C8B-B14F-4D97-AF65-F5344CB8AC3E}">
        <p14:creationId xmlns:p14="http://schemas.microsoft.com/office/powerpoint/2010/main" val="1232462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F3D97-9195-1F1D-C656-15B68E345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9DA7C-53F7-98B3-1B1B-AE2071E628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696EC-D307-48A6-6C29-F455A42147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D7384C-18C8-BC97-9572-77015E75E4A1}"/>
              </a:ext>
            </a:extLst>
          </p:cNvPr>
          <p:cNvSpPr>
            <a:spLocks noGrp="1"/>
          </p:cNvSpPr>
          <p:nvPr>
            <p:ph type="sldNum" sz="quarter" idx="5"/>
          </p:nvPr>
        </p:nvSpPr>
        <p:spPr/>
        <p:txBody>
          <a:bodyPr/>
          <a:lstStyle/>
          <a:p>
            <a:fld id="{BA5591EA-5938-D64E-A620-DF043F04C7E3}" type="slidenum">
              <a:rPr lang="en-US" smtClean="0"/>
              <a:t>9</a:t>
            </a:fld>
            <a:endParaRPr lang="en-US"/>
          </a:p>
        </p:txBody>
      </p:sp>
    </p:spTree>
    <p:extLst>
      <p:ext uri="{BB962C8B-B14F-4D97-AF65-F5344CB8AC3E}">
        <p14:creationId xmlns:p14="http://schemas.microsoft.com/office/powerpoint/2010/main" val="3961515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7A5AE-B6E1-9597-AEC5-662BBEB99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D965F-E729-46FC-2793-06F5A5A9D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EB622-ED97-459D-CFE9-2AB961F2F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6FFD8F-586F-9944-B6C8-DFCAFEC6FEA0}"/>
              </a:ext>
            </a:extLst>
          </p:cNvPr>
          <p:cNvSpPr>
            <a:spLocks noGrp="1"/>
          </p:cNvSpPr>
          <p:nvPr>
            <p:ph type="sldNum" sz="quarter" idx="5"/>
          </p:nvPr>
        </p:nvSpPr>
        <p:spPr/>
        <p:txBody>
          <a:bodyPr/>
          <a:lstStyle/>
          <a:p>
            <a:fld id="{BA5591EA-5938-D64E-A620-DF043F04C7E3}" type="slidenum">
              <a:rPr lang="en-US" smtClean="0"/>
              <a:t>10</a:t>
            </a:fld>
            <a:endParaRPr lang="en-US"/>
          </a:p>
        </p:txBody>
      </p:sp>
    </p:spTree>
    <p:extLst>
      <p:ext uri="{BB962C8B-B14F-4D97-AF65-F5344CB8AC3E}">
        <p14:creationId xmlns:p14="http://schemas.microsoft.com/office/powerpoint/2010/main" val="3111093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A4561-FB25-1072-1B73-BD752FA69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E417B-A979-0AC0-4EC6-D5E7C7A29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494D3-9E8C-BCA7-FBC3-4FA6ECA584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7B422-FB8C-491B-D364-3D590EF0ABF3}"/>
              </a:ext>
            </a:extLst>
          </p:cNvPr>
          <p:cNvSpPr>
            <a:spLocks noGrp="1"/>
          </p:cNvSpPr>
          <p:nvPr>
            <p:ph type="sldNum" sz="quarter" idx="5"/>
          </p:nvPr>
        </p:nvSpPr>
        <p:spPr/>
        <p:txBody>
          <a:bodyPr/>
          <a:lstStyle/>
          <a:p>
            <a:fld id="{BA5591EA-5938-D64E-A620-DF043F04C7E3}" type="slidenum">
              <a:rPr lang="en-US" smtClean="0"/>
              <a:t>11</a:t>
            </a:fld>
            <a:endParaRPr lang="en-US"/>
          </a:p>
        </p:txBody>
      </p:sp>
    </p:spTree>
    <p:extLst>
      <p:ext uri="{BB962C8B-B14F-4D97-AF65-F5344CB8AC3E}">
        <p14:creationId xmlns:p14="http://schemas.microsoft.com/office/powerpoint/2010/main" val="1476085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7F315-802D-78C1-6D87-91CC2C748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F13A4-1BE3-9D79-4F32-8C664E429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D38B8-26F2-B57E-6EB5-6BDE1AC562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9893A1-5654-FB02-42A9-69C1CA0E651A}"/>
              </a:ext>
            </a:extLst>
          </p:cNvPr>
          <p:cNvSpPr>
            <a:spLocks noGrp="1"/>
          </p:cNvSpPr>
          <p:nvPr>
            <p:ph type="sldNum" sz="quarter" idx="5"/>
          </p:nvPr>
        </p:nvSpPr>
        <p:spPr/>
        <p:txBody>
          <a:bodyPr/>
          <a:lstStyle/>
          <a:p>
            <a:fld id="{BA5591EA-5938-D64E-A620-DF043F04C7E3}" type="slidenum">
              <a:rPr lang="en-US" smtClean="0"/>
              <a:t>12</a:t>
            </a:fld>
            <a:endParaRPr lang="en-US"/>
          </a:p>
        </p:txBody>
      </p:sp>
    </p:spTree>
    <p:extLst>
      <p:ext uri="{BB962C8B-B14F-4D97-AF65-F5344CB8AC3E}">
        <p14:creationId xmlns:p14="http://schemas.microsoft.com/office/powerpoint/2010/main" val="3283758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07F3-13F8-6BA1-D2F8-713E5F4CE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C6109-843D-94F3-3130-B86E8395A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673E5-5936-C030-5048-06895B786F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CEAAF5-1125-458F-B9D5-63B9BE624C54}"/>
              </a:ext>
            </a:extLst>
          </p:cNvPr>
          <p:cNvSpPr>
            <a:spLocks noGrp="1"/>
          </p:cNvSpPr>
          <p:nvPr>
            <p:ph type="sldNum" sz="quarter" idx="5"/>
          </p:nvPr>
        </p:nvSpPr>
        <p:spPr/>
        <p:txBody>
          <a:bodyPr/>
          <a:lstStyle/>
          <a:p>
            <a:fld id="{BA5591EA-5938-D64E-A620-DF043F04C7E3}" type="slidenum">
              <a:rPr lang="en-US" smtClean="0"/>
              <a:t>13</a:t>
            </a:fld>
            <a:endParaRPr lang="en-US"/>
          </a:p>
        </p:txBody>
      </p:sp>
    </p:spTree>
    <p:extLst>
      <p:ext uri="{BB962C8B-B14F-4D97-AF65-F5344CB8AC3E}">
        <p14:creationId xmlns:p14="http://schemas.microsoft.com/office/powerpoint/2010/main" val="470013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66F2-7084-EBED-856D-68389DAD3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A5DBB-F76C-DB2D-7DE8-AF2108C56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225AB9-A431-E381-628E-054B7CF22A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DD0297-8E17-3B9F-19E5-7DA8CC6C902A}"/>
              </a:ext>
            </a:extLst>
          </p:cNvPr>
          <p:cNvSpPr>
            <a:spLocks noGrp="1"/>
          </p:cNvSpPr>
          <p:nvPr>
            <p:ph type="sldNum" sz="quarter" idx="5"/>
          </p:nvPr>
        </p:nvSpPr>
        <p:spPr/>
        <p:txBody>
          <a:bodyPr/>
          <a:lstStyle/>
          <a:p>
            <a:fld id="{BA5591EA-5938-D64E-A620-DF043F04C7E3}" type="slidenum">
              <a:rPr lang="en-US" smtClean="0"/>
              <a:t>14</a:t>
            </a:fld>
            <a:endParaRPr lang="en-US"/>
          </a:p>
        </p:txBody>
      </p:sp>
    </p:spTree>
    <p:extLst>
      <p:ext uri="{BB962C8B-B14F-4D97-AF65-F5344CB8AC3E}">
        <p14:creationId xmlns:p14="http://schemas.microsoft.com/office/powerpoint/2010/main" val="3309049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BF22F-3FD4-8691-6251-1D19551D05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2B5562-D289-FEA6-2FEA-3284C5083F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5BAB62-0FE9-8C23-844B-9076F7F314D8}"/>
              </a:ext>
            </a:extLst>
          </p:cNvPr>
          <p:cNvSpPr>
            <a:spLocks noGrp="1"/>
          </p:cNvSpPr>
          <p:nvPr>
            <p:ph type="dt" sz="half" idx="10"/>
          </p:nvPr>
        </p:nvSpPr>
        <p:spPr/>
        <p:txBody>
          <a:bodyPr/>
          <a:lstStyle/>
          <a:p>
            <a:fld id="{6E937B5E-D4C9-6D47-97E7-3DDD0E33D3EE}" type="datetime1">
              <a:rPr lang="en-US" smtClean="0"/>
              <a:t>11/29/25</a:t>
            </a:fld>
            <a:endParaRPr lang="en-US"/>
          </a:p>
        </p:txBody>
      </p:sp>
      <p:sp>
        <p:nvSpPr>
          <p:cNvPr id="5" name="Footer Placeholder 4">
            <a:extLst>
              <a:ext uri="{FF2B5EF4-FFF2-40B4-BE49-F238E27FC236}">
                <a16:creationId xmlns:a16="http://schemas.microsoft.com/office/drawing/2014/main" id="{57B18AFA-DC63-FA98-D453-67AA5ED74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6DB44-D0BD-9C9A-7976-9B58A13E812E}"/>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341492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411C0-C04F-5FE9-BFEB-3227197E01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D7C165-93C8-6E7D-3114-5E5930495C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C07B64-2879-56BD-D008-380620F38C31}"/>
              </a:ext>
            </a:extLst>
          </p:cNvPr>
          <p:cNvSpPr>
            <a:spLocks noGrp="1"/>
          </p:cNvSpPr>
          <p:nvPr>
            <p:ph type="dt" sz="half" idx="10"/>
          </p:nvPr>
        </p:nvSpPr>
        <p:spPr/>
        <p:txBody>
          <a:bodyPr/>
          <a:lstStyle/>
          <a:p>
            <a:fld id="{B318A783-ACBD-D840-8472-E3B5D6DB6B5F}" type="datetime1">
              <a:rPr lang="en-US" smtClean="0"/>
              <a:t>11/29/25</a:t>
            </a:fld>
            <a:endParaRPr lang="en-US"/>
          </a:p>
        </p:txBody>
      </p:sp>
      <p:sp>
        <p:nvSpPr>
          <p:cNvPr id="5" name="Footer Placeholder 4">
            <a:extLst>
              <a:ext uri="{FF2B5EF4-FFF2-40B4-BE49-F238E27FC236}">
                <a16:creationId xmlns:a16="http://schemas.microsoft.com/office/drawing/2014/main" id="{9FAA5B93-4AF8-D7B7-AF2A-CE62B9B97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6CCA0-04A0-15DA-697B-1B96EDBD2D86}"/>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3564758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F931-80F7-3662-8E3F-7D436738E6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E35189-14D6-2E4B-A80D-D0854482A3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208FBE-BA0B-956A-DDFC-E03C2E867EB5}"/>
              </a:ext>
            </a:extLst>
          </p:cNvPr>
          <p:cNvSpPr>
            <a:spLocks noGrp="1"/>
          </p:cNvSpPr>
          <p:nvPr>
            <p:ph type="dt" sz="half" idx="10"/>
          </p:nvPr>
        </p:nvSpPr>
        <p:spPr/>
        <p:txBody>
          <a:bodyPr/>
          <a:lstStyle/>
          <a:p>
            <a:fld id="{CB5E97D1-7D3B-6A4A-8CA4-9575EAFF0240}" type="datetime1">
              <a:rPr lang="en-US" smtClean="0"/>
              <a:t>11/29/25</a:t>
            </a:fld>
            <a:endParaRPr lang="en-US"/>
          </a:p>
        </p:txBody>
      </p:sp>
      <p:sp>
        <p:nvSpPr>
          <p:cNvPr id="5" name="Footer Placeholder 4">
            <a:extLst>
              <a:ext uri="{FF2B5EF4-FFF2-40B4-BE49-F238E27FC236}">
                <a16:creationId xmlns:a16="http://schemas.microsoft.com/office/drawing/2014/main" id="{FC5D1AE7-46E5-EF4E-52F8-FDC168255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37F75-F567-7A6B-2050-20195788C82E}"/>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344558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79B37-6862-3E4C-D10E-BCC6155B9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F71269-4D62-06DA-7308-5F2612D7F4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9B4C0A-47A6-FE5B-049E-3E46BCF4F5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BD8F05-FE4C-B1CC-9F93-D6DCA9B79E24}"/>
              </a:ext>
            </a:extLst>
          </p:cNvPr>
          <p:cNvSpPr>
            <a:spLocks noGrp="1"/>
          </p:cNvSpPr>
          <p:nvPr>
            <p:ph type="dt" sz="half" idx="10"/>
          </p:nvPr>
        </p:nvSpPr>
        <p:spPr/>
        <p:txBody>
          <a:bodyPr/>
          <a:lstStyle/>
          <a:p>
            <a:fld id="{9A909F22-7F95-AE48-B989-2121F6183608}" type="datetime1">
              <a:rPr lang="en-US" smtClean="0"/>
              <a:t>11/29/25</a:t>
            </a:fld>
            <a:endParaRPr lang="en-US"/>
          </a:p>
        </p:txBody>
      </p:sp>
      <p:sp>
        <p:nvSpPr>
          <p:cNvPr id="6" name="Footer Placeholder 5">
            <a:extLst>
              <a:ext uri="{FF2B5EF4-FFF2-40B4-BE49-F238E27FC236}">
                <a16:creationId xmlns:a16="http://schemas.microsoft.com/office/drawing/2014/main" id="{16A00F3B-93A1-781F-3825-2364CBAA1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5F5AC-CCA6-C3CF-CAF7-B8E3BBD0F75F}"/>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342481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44C8F-820B-B430-FB55-C00BD765AB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21A0F3-EE2F-BD86-92C6-CB53837FF0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61E7EA-BFD7-2487-0EC3-81B39FD11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061E9B-9E9A-7DAB-7122-F5C48B33C9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B3FCBF-AC5E-C2D2-CE20-39610ABA7C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7CAC9F-4E56-428D-1E07-7BAA4FACB450}"/>
              </a:ext>
            </a:extLst>
          </p:cNvPr>
          <p:cNvSpPr>
            <a:spLocks noGrp="1"/>
          </p:cNvSpPr>
          <p:nvPr>
            <p:ph type="dt" sz="half" idx="10"/>
          </p:nvPr>
        </p:nvSpPr>
        <p:spPr/>
        <p:txBody>
          <a:bodyPr/>
          <a:lstStyle/>
          <a:p>
            <a:fld id="{1676CEEA-87B8-0343-84AF-350BF0820ECE}" type="datetime1">
              <a:rPr lang="en-US" smtClean="0"/>
              <a:t>11/29/25</a:t>
            </a:fld>
            <a:endParaRPr lang="en-US"/>
          </a:p>
        </p:txBody>
      </p:sp>
      <p:sp>
        <p:nvSpPr>
          <p:cNvPr id="8" name="Footer Placeholder 7">
            <a:extLst>
              <a:ext uri="{FF2B5EF4-FFF2-40B4-BE49-F238E27FC236}">
                <a16:creationId xmlns:a16="http://schemas.microsoft.com/office/drawing/2014/main" id="{F998DE0F-04C4-AC0E-9B4A-4377B38B7D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D6222B-C243-810B-FB61-856D4702655B}"/>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2661816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893B8-08F4-9264-5206-CDD40F0EBD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AC0EAC-68F4-315F-E387-151BC98B1866}"/>
              </a:ext>
            </a:extLst>
          </p:cNvPr>
          <p:cNvSpPr>
            <a:spLocks noGrp="1"/>
          </p:cNvSpPr>
          <p:nvPr>
            <p:ph type="dt" sz="half" idx="10"/>
          </p:nvPr>
        </p:nvSpPr>
        <p:spPr/>
        <p:txBody>
          <a:bodyPr/>
          <a:lstStyle/>
          <a:p>
            <a:fld id="{38F86110-1EE3-C540-8BD8-AE72E7AAA9E1}" type="datetime1">
              <a:rPr lang="en-US" smtClean="0"/>
              <a:t>11/29/25</a:t>
            </a:fld>
            <a:endParaRPr lang="en-US"/>
          </a:p>
        </p:txBody>
      </p:sp>
      <p:sp>
        <p:nvSpPr>
          <p:cNvPr id="4" name="Footer Placeholder 3">
            <a:extLst>
              <a:ext uri="{FF2B5EF4-FFF2-40B4-BE49-F238E27FC236}">
                <a16:creationId xmlns:a16="http://schemas.microsoft.com/office/drawing/2014/main" id="{05950977-AA35-B461-D9D9-196F145015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52E456-1F53-94A5-251A-5E8AAA20F496}"/>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1025824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6F94F2-675B-CF6D-4AB8-35328B6E8C9D}"/>
              </a:ext>
            </a:extLst>
          </p:cNvPr>
          <p:cNvSpPr>
            <a:spLocks noGrp="1"/>
          </p:cNvSpPr>
          <p:nvPr>
            <p:ph type="dt" sz="half" idx="10"/>
          </p:nvPr>
        </p:nvSpPr>
        <p:spPr/>
        <p:txBody>
          <a:bodyPr/>
          <a:lstStyle/>
          <a:p>
            <a:fld id="{92FE3E89-AE3D-5749-9F58-491CC6DDCD4B}" type="datetime1">
              <a:rPr lang="en-US" smtClean="0"/>
              <a:t>11/29/25</a:t>
            </a:fld>
            <a:endParaRPr lang="en-US"/>
          </a:p>
        </p:txBody>
      </p:sp>
      <p:sp>
        <p:nvSpPr>
          <p:cNvPr id="3" name="Footer Placeholder 2">
            <a:extLst>
              <a:ext uri="{FF2B5EF4-FFF2-40B4-BE49-F238E27FC236}">
                <a16:creationId xmlns:a16="http://schemas.microsoft.com/office/drawing/2014/main" id="{43F202C8-8BE4-3C02-EB16-726A560147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C5A167-5CBE-D97D-84C9-EAF8AA588840}"/>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190524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A6DA-F096-8867-C0EE-44E3C62F3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31DF32-2C0E-4B0A-9FC8-1D9C66E12D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DB0A58-6B28-AD8F-EB4D-FDAC05F112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C18D1-D3BA-72D8-400B-BBC15A3A5BEA}"/>
              </a:ext>
            </a:extLst>
          </p:cNvPr>
          <p:cNvSpPr>
            <a:spLocks noGrp="1"/>
          </p:cNvSpPr>
          <p:nvPr>
            <p:ph type="dt" sz="half" idx="10"/>
          </p:nvPr>
        </p:nvSpPr>
        <p:spPr/>
        <p:txBody>
          <a:bodyPr/>
          <a:lstStyle/>
          <a:p>
            <a:fld id="{0502BF98-1C41-E64D-AE7D-748D062DE484}" type="datetime1">
              <a:rPr lang="en-US" smtClean="0"/>
              <a:t>11/29/25</a:t>
            </a:fld>
            <a:endParaRPr lang="en-US"/>
          </a:p>
        </p:txBody>
      </p:sp>
      <p:sp>
        <p:nvSpPr>
          <p:cNvPr id="6" name="Footer Placeholder 5">
            <a:extLst>
              <a:ext uri="{FF2B5EF4-FFF2-40B4-BE49-F238E27FC236}">
                <a16:creationId xmlns:a16="http://schemas.microsoft.com/office/drawing/2014/main" id="{D93215D8-BBCF-5647-BBD2-B07DD683EC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883E55-108E-F0B9-7CB0-A49CDF16023A}"/>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96338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A424-3E31-786D-AC96-24AA983505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072902-45A7-FC40-BBFD-3F31238112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DE5DF6-9E12-93A8-C41C-77FB320D5D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13913F-9C81-E4E3-E09A-75DED057FE0D}"/>
              </a:ext>
            </a:extLst>
          </p:cNvPr>
          <p:cNvSpPr>
            <a:spLocks noGrp="1"/>
          </p:cNvSpPr>
          <p:nvPr>
            <p:ph type="dt" sz="half" idx="10"/>
          </p:nvPr>
        </p:nvSpPr>
        <p:spPr/>
        <p:txBody>
          <a:bodyPr/>
          <a:lstStyle/>
          <a:p>
            <a:fld id="{DE087851-CB43-AB4F-ABD5-8E64A46E1095}" type="datetime1">
              <a:rPr lang="en-US" smtClean="0"/>
              <a:t>11/29/25</a:t>
            </a:fld>
            <a:endParaRPr lang="en-US"/>
          </a:p>
        </p:txBody>
      </p:sp>
      <p:sp>
        <p:nvSpPr>
          <p:cNvPr id="6" name="Footer Placeholder 5">
            <a:extLst>
              <a:ext uri="{FF2B5EF4-FFF2-40B4-BE49-F238E27FC236}">
                <a16:creationId xmlns:a16="http://schemas.microsoft.com/office/drawing/2014/main" id="{54BDC957-6D20-7F6C-F46D-F47131473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080C7B-F7A7-42D9-4256-D57E0C365E66}"/>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3229427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D7A33-D1F4-3352-B820-B0C2300658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871AEA-7307-AD54-6215-A1A0774AA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BD0B00-20ED-F4F0-131B-D9851005D274}"/>
              </a:ext>
            </a:extLst>
          </p:cNvPr>
          <p:cNvSpPr>
            <a:spLocks noGrp="1"/>
          </p:cNvSpPr>
          <p:nvPr>
            <p:ph type="dt" sz="half" idx="10"/>
          </p:nvPr>
        </p:nvSpPr>
        <p:spPr/>
        <p:txBody>
          <a:bodyPr/>
          <a:lstStyle/>
          <a:p>
            <a:fld id="{D9DE2B3E-1AB5-1949-89C1-FDC33E68073E}" type="datetime1">
              <a:rPr lang="en-US" smtClean="0"/>
              <a:t>11/29/25</a:t>
            </a:fld>
            <a:endParaRPr lang="en-US"/>
          </a:p>
        </p:txBody>
      </p:sp>
      <p:sp>
        <p:nvSpPr>
          <p:cNvPr id="5" name="Footer Placeholder 4">
            <a:extLst>
              <a:ext uri="{FF2B5EF4-FFF2-40B4-BE49-F238E27FC236}">
                <a16:creationId xmlns:a16="http://schemas.microsoft.com/office/drawing/2014/main" id="{727DE079-FF0D-2C72-77C4-4F625FCCB6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44917A-D279-ABEB-62BF-5C173668B264}"/>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2156796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DA8DAD-DEB5-1ED9-A9E4-B7F8ED0AD9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027E79-26FD-DB99-735C-BBC6400C27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2908AB-8F83-0A6A-FDC2-B13E8960678D}"/>
              </a:ext>
            </a:extLst>
          </p:cNvPr>
          <p:cNvSpPr>
            <a:spLocks noGrp="1"/>
          </p:cNvSpPr>
          <p:nvPr>
            <p:ph type="dt" sz="half" idx="10"/>
          </p:nvPr>
        </p:nvSpPr>
        <p:spPr/>
        <p:txBody>
          <a:bodyPr/>
          <a:lstStyle/>
          <a:p>
            <a:fld id="{7A5DA614-A868-3040-9769-9B26F0C0F370}" type="datetime1">
              <a:rPr lang="en-US" smtClean="0"/>
              <a:t>11/29/25</a:t>
            </a:fld>
            <a:endParaRPr lang="en-US"/>
          </a:p>
        </p:txBody>
      </p:sp>
      <p:sp>
        <p:nvSpPr>
          <p:cNvPr id="5" name="Footer Placeholder 4">
            <a:extLst>
              <a:ext uri="{FF2B5EF4-FFF2-40B4-BE49-F238E27FC236}">
                <a16:creationId xmlns:a16="http://schemas.microsoft.com/office/drawing/2014/main" id="{17B90DF6-9EAB-5150-BF26-891DC0591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985CAC-6A3A-20AB-ED57-502496AC3D96}"/>
              </a:ext>
            </a:extLst>
          </p:cNvPr>
          <p:cNvSpPr>
            <a:spLocks noGrp="1"/>
          </p:cNvSpPr>
          <p:nvPr>
            <p:ph type="sldNum" sz="quarter" idx="12"/>
          </p:nvPr>
        </p:nvSpPr>
        <p:spPr/>
        <p:txBody>
          <a:bodyPr/>
          <a:lstStyle/>
          <a:p>
            <a:fld id="{47F0EFCC-1059-DB4C-ACF8-9275869D03E5}" type="slidenum">
              <a:rPr lang="en-US" smtClean="0"/>
              <a:t>‹#›</a:t>
            </a:fld>
            <a:endParaRPr lang="en-US"/>
          </a:p>
        </p:txBody>
      </p:sp>
    </p:spTree>
    <p:extLst>
      <p:ext uri="{BB962C8B-B14F-4D97-AF65-F5344CB8AC3E}">
        <p14:creationId xmlns:p14="http://schemas.microsoft.com/office/powerpoint/2010/main" val="2345353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052BA-979B-2FE8-C845-13E96E0EB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9AAB84-AB43-64BD-2E60-D8D7261935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9B5EA-CFE2-9A74-2B7F-65A01EF28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069497-AF26-8B4B-8EA0-90B5C518FD3C}" type="datetime1">
              <a:rPr lang="en-US" smtClean="0"/>
              <a:t>11/29/25</a:t>
            </a:fld>
            <a:endParaRPr lang="en-US"/>
          </a:p>
        </p:txBody>
      </p:sp>
      <p:sp>
        <p:nvSpPr>
          <p:cNvPr id="5" name="Footer Placeholder 4">
            <a:extLst>
              <a:ext uri="{FF2B5EF4-FFF2-40B4-BE49-F238E27FC236}">
                <a16:creationId xmlns:a16="http://schemas.microsoft.com/office/drawing/2014/main" id="{BE136399-85FE-C3D1-50D6-1CB76ECA16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D865B8-93EA-C8BF-3658-A3628CFF9E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F0EFCC-1059-DB4C-ACF8-9275869D03E5}" type="slidenum">
              <a:rPr lang="en-US" smtClean="0"/>
              <a:t>‹#›</a:t>
            </a:fld>
            <a:endParaRPr lang="en-US"/>
          </a:p>
        </p:txBody>
      </p:sp>
    </p:spTree>
    <p:extLst>
      <p:ext uri="{BB962C8B-B14F-4D97-AF65-F5344CB8AC3E}">
        <p14:creationId xmlns:p14="http://schemas.microsoft.com/office/powerpoint/2010/main" val="1415441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62F9-ADDC-FB15-7B75-71844EF19ABB}"/>
              </a:ext>
            </a:extLst>
          </p:cNvPr>
          <p:cNvSpPr>
            <a:spLocks noGrp="1"/>
          </p:cNvSpPr>
          <p:nvPr>
            <p:ph type="ctrTitle"/>
          </p:nvPr>
        </p:nvSpPr>
        <p:spPr>
          <a:xfrm>
            <a:off x="1155207" y="1041400"/>
            <a:ext cx="5089864" cy="2387600"/>
          </a:xfrm>
        </p:spPr>
        <p:txBody>
          <a:bodyPr>
            <a:normAutofit fontScale="90000"/>
          </a:bodyPr>
          <a:lstStyle/>
          <a:p>
            <a:r>
              <a:rPr lang="en-US" b="1" dirty="0">
                <a:solidFill>
                  <a:srgbClr val="8F5A3A"/>
                </a:solidFill>
                <a:latin typeface="PT Serif Caption" panose="02060603050505020204" pitchFamily="18" charset="77"/>
              </a:rPr>
              <a:t>Inaccurate Revenue Forecasting</a:t>
            </a:r>
          </a:p>
        </p:txBody>
      </p:sp>
      <p:sp>
        <p:nvSpPr>
          <p:cNvPr id="3" name="Subtitle 2">
            <a:extLst>
              <a:ext uri="{FF2B5EF4-FFF2-40B4-BE49-F238E27FC236}">
                <a16:creationId xmlns:a16="http://schemas.microsoft.com/office/drawing/2014/main" id="{44361CAA-6440-7600-3BAB-DF3C2B2A3CDD}"/>
              </a:ext>
            </a:extLst>
          </p:cNvPr>
          <p:cNvSpPr>
            <a:spLocks noGrp="1"/>
          </p:cNvSpPr>
          <p:nvPr>
            <p:ph type="subTitle" idx="1"/>
          </p:nvPr>
        </p:nvSpPr>
        <p:spPr>
          <a:xfrm>
            <a:off x="6059749" y="3854125"/>
            <a:ext cx="3500761" cy="417251"/>
          </a:xfrm>
        </p:spPr>
        <p:txBody>
          <a:bodyPr>
            <a:normAutofit lnSpcReduction="10000"/>
          </a:bodyPr>
          <a:lstStyle/>
          <a:p>
            <a:r>
              <a:rPr lang="en-US" dirty="0"/>
              <a:t>December 01, 2025</a:t>
            </a:r>
          </a:p>
        </p:txBody>
      </p:sp>
      <p:sp>
        <p:nvSpPr>
          <p:cNvPr id="4" name="Rectangle 3">
            <a:extLst>
              <a:ext uri="{FF2B5EF4-FFF2-40B4-BE49-F238E27FC236}">
                <a16:creationId xmlns:a16="http://schemas.microsoft.com/office/drawing/2014/main" id="{4A724A7E-7D7C-4CEC-19F1-0A50CE315411}"/>
              </a:ext>
            </a:extLst>
          </p:cNvPr>
          <p:cNvSpPr/>
          <p:nvPr/>
        </p:nvSpPr>
        <p:spPr>
          <a:xfrm>
            <a:off x="0" y="6062133"/>
            <a:ext cx="12192000"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CB9F804B-E748-6F4E-D50D-C9BE5B58D3E1}"/>
              </a:ext>
            </a:extLst>
          </p:cNvPr>
          <p:cNvCxnSpPr>
            <a:cxnSpLocks/>
          </p:cNvCxnSpPr>
          <p:nvPr/>
        </p:nvCxnSpPr>
        <p:spPr>
          <a:xfrm>
            <a:off x="6107836" y="1083076"/>
            <a:ext cx="0" cy="23814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00B6994-C356-3B3E-1B6B-F9EB62DF3AE1}"/>
              </a:ext>
            </a:extLst>
          </p:cNvPr>
          <p:cNvSpPr txBox="1">
            <a:spLocks/>
          </p:cNvSpPr>
          <p:nvPr/>
        </p:nvSpPr>
        <p:spPr>
          <a:xfrm>
            <a:off x="6382305" y="1172308"/>
            <a:ext cx="5089864"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77A10963-C77B-BB33-CFDF-797C9E4DB9DF}"/>
              </a:ext>
            </a:extLst>
          </p:cNvPr>
          <p:cNvSpPr>
            <a:spLocks noGrp="1"/>
          </p:cNvSpPr>
          <p:nvPr>
            <p:ph type="sldNum" sz="quarter" idx="12"/>
          </p:nvPr>
        </p:nvSpPr>
        <p:spPr/>
        <p:txBody>
          <a:bodyPr/>
          <a:lstStyle/>
          <a:p>
            <a:fld id="{47F0EFCC-1059-DB4C-ACF8-9275869D03E5}" type="slidenum">
              <a:rPr lang="en-US" smtClean="0">
                <a:solidFill>
                  <a:srgbClr val="F5F0E7"/>
                </a:solidFill>
              </a:rPr>
              <a:t>1</a:t>
            </a:fld>
            <a:endParaRPr lang="en-US" dirty="0">
              <a:solidFill>
                <a:srgbClr val="F5F0E7"/>
              </a:solidFill>
            </a:endParaRPr>
          </a:p>
        </p:txBody>
      </p:sp>
      <p:sp>
        <p:nvSpPr>
          <p:cNvPr id="5" name="Title 1">
            <a:extLst>
              <a:ext uri="{FF2B5EF4-FFF2-40B4-BE49-F238E27FC236}">
                <a16:creationId xmlns:a16="http://schemas.microsoft.com/office/drawing/2014/main" id="{E2E97912-154E-8B56-78B6-7770CFB13D3B}"/>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Tree>
    <p:extLst>
      <p:ext uri="{BB962C8B-B14F-4D97-AF65-F5344CB8AC3E}">
        <p14:creationId xmlns:p14="http://schemas.microsoft.com/office/powerpoint/2010/main" val="99307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4C519D42-188F-53A3-6923-EFF28AA83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3745DF-034C-A8CE-CE0A-CEBAE634E564}"/>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FF194C9D-0FE4-2BAD-C90A-A05078BB155A}"/>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8B9566-7BDD-24ED-1BEB-F33B37AB19D7}"/>
              </a:ext>
            </a:extLst>
          </p:cNvPr>
          <p:cNvCxnSpPr>
            <a:cxnSpLocks/>
          </p:cNvCxnSpPr>
          <p:nvPr/>
        </p:nvCxnSpPr>
        <p:spPr>
          <a:xfrm>
            <a:off x="10679836" y="276210"/>
            <a:ext cx="0" cy="41725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A2DB645-5F4E-086F-8A45-4EB422F72FA2}"/>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77D07DBE-83B7-6F7B-BE32-8E263BDFA0F6}"/>
              </a:ext>
            </a:extLst>
          </p:cNvPr>
          <p:cNvSpPr>
            <a:spLocks noGrp="1"/>
          </p:cNvSpPr>
          <p:nvPr>
            <p:ph type="sldNum" sz="quarter" idx="12"/>
          </p:nvPr>
        </p:nvSpPr>
        <p:spPr/>
        <p:txBody>
          <a:bodyPr/>
          <a:lstStyle/>
          <a:p>
            <a:fld id="{47F0EFCC-1059-DB4C-ACF8-9275869D03E5}" type="slidenum">
              <a:rPr lang="en-US" smtClean="0">
                <a:solidFill>
                  <a:srgbClr val="F5F0E7"/>
                </a:solidFill>
              </a:rPr>
              <a:t>2</a:t>
            </a:fld>
            <a:endParaRPr lang="en-US" dirty="0">
              <a:solidFill>
                <a:srgbClr val="F5F0E7"/>
              </a:solidFill>
            </a:endParaRPr>
          </a:p>
        </p:txBody>
      </p:sp>
      <p:sp>
        <p:nvSpPr>
          <p:cNvPr id="9" name="Title 1">
            <a:extLst>
              <a:ext uri="{FF2B5EF4-FFF2-40B4-BE49-F238E27FC236}">
                <a16:creationId xmlns:a16="http://schemas.microsoft.com/office/drawing/2014/main" id="{4054852A-3B31-6A01-6858-D1BC055E5355}"/>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a:solidFill>
                  <a:srgbClr val="F5F0E7"/>
                </a:solidFill>
                <a:latin typeface="PT Serif Caption" panose="02060603050505020204" pitchFamily="18" charset="77"/>
                <a:cs typeface="Apple Chancery" panose="03020702040506060504" pitchFamily="66" charset="-79"/>
              </a:rPr>
              <a:t>30 Day Applied Business Strategy Challenge </a:t>
            </a:r>
            <a:r>
              <a:rPr lang="en-US" sz="2400" dirty="0">
                <a:solidFill>
                  <a:srgbClr val="F5F0E7"/>
                </a:solidFill>
                <a:latin typeface="PT Serif Caption" panose="02060603050505020204" pitchFamily="18" charset="77"/>
                <a:cs typeface="Apple Chancery" panose="03020702040506060504" pitchFamily="66" charset="-79"/>
              </a:rPr>
              <a:t>– Day 1</a:t>
            </a:r>
          </a:p>
        </p:txBody>
      </p:sp>
      <p:sp>
        <p:nvSpPr>
          <p:cNvPr id="13" name="Title 1">
            <a:extLst>
              <a:ext uri="{FF2B5EF4-FFF2-40B4-BE49-F238E27FC236}">
                <a16:creationId xmlns:a16="http://schemas.microsoft.com/office/drawing/2014/main" id="{AE9BC29C-1BD1-C317-73E2-116735E999DB}"/>
              </a:ext>
            </a:extLst>
          </p:cNvPr>
          <p:cNvSpPr>
            <a:spLocks noGrp="1"/>
          </p:cNvSpPr>
          <p:nvPr>
            <p:ph type="subTitle" idx="1"/>
          </p:nvPr>
        </p:nvSpPr>
        <p:spPr>
          <a:xfrm>
            <a:off x="4261282" y="1664602"/>
            <a:ext cx="5971713" cy="795867"/>
          </a:xfrm>
        </p:spPr>
        <p:txBody>
          <a:bodyPr>
            <a:normAutofit fontScale="97500" lnSpcReduction="10000"/>
          </a:bodyPr>
          <a:lstStyle/>
          <a:p>
            <a:r>
              <a:rPr lang="en-US" sz="5400" b="1" dirty="0">
                <a:latin typeface="PT Serif Caption" panose="02060603050505020204" pitchFamily="18" charset="77"/>
              </a:rPr>
              <a:t>Objective</a:t>
            </a:r>
          </a:p>
        </p:txBody>
      </p:sp>
      <p:sp>
        <p:nvSpPr>
          <p:cNvPr id="14" name="TextBox 13">
            <a:extLst>
              <a:ext uri="{FF2B5EF4-FFF2-40B4-BE49-F238E27FC236}">
                <a16:creationId xmlns:a16="http://schemas.microsoft.com/office/drawing/2014/main" id="{7AB0A150-3771-096B-4E0C-3992267935AB}"/>
              </a:ext>
            </a:extLst>
          </p:cNvPr>
          <p:cNvSpPr txBox="1"/>
          <p:nvPr/>
        </p:nvSpPr>
        <p:spPr>
          <a:xfrm>
            <a:off x="1513835" y="3511527"/>
            <a:ext cx="3622090" cy="1661993"/>
          </a:xfrm>
          <a:prstGeom prst="rect">
            <a:avLst/>
          </a:prstGeom>
          <a:noFill/>
        </p:spPr>
        <p:txBody>
          <a:bodyPr wrap="square" rtlCol="0">
            <a:spAutoFit/>
          </a:bodyPr>
          <a:lstStyle/>
          <a:p>
            <a:r>
              <a:rPr lang="en-US" b="1" dirty="0">
                <a:latin typeface="PT Serif Caption" panose="02060603050505020204" pitchFamily="18" charset="77"/>
              </a:rPr>
              <a:t>Objective</a:t>
            </a:r>
          </a:p>
          <a:p>
            <a:endParaRPr lang="en-US" sz="1000" dirty="0">
              <a:latin typeface="PT Serif Caption" panose="02060603050505020204" pitchFamily="18" charset="77"/>
            </a:endParaRPr>
          </a:p>
          <a:p>
            <a:r>
              <a:rPr lang="en-US" dirty="0">
                <a:latin typeface="PT Serif Caption" panose="02060603050505020204" pitchFamily="18" charset="77"/>
              </a:rPr>
              <a:t>Approach</a:t>
            </a:r>
          </a:p>
          <a:p>
            <a:endParaRPr lang="en-US" sz="1000" dirty="0">
              <a:latin typeface="PT Serif Caption" panose="02060603050505020204" pitchFamily="18" charset="77"/>
            </a:endParaRPr>
          </a:p>
          <a:p>
            <a:r>
              <a:rPr lang="en-US" dirty="0">
                <a:latin typeface="PT Serif Caption" panose="02060603050505020204" pitchFamily="18" charset="77"/>
              </a:rPr>
              <a:t>Analysis</a:t>
            </a:r>
          </a:p>
          <a:p>
            <a:endParaRPr lang="en-US" sz="1000" dirty="0">
              <a:latin typeface="PT Serif Caption" panose="02060603050505020204" pitchFamily="18" charset="77"/>
            </a:endParaRPr>
          </a:p>
          <a:p>
            <a:r>
              <a:rPr lang="en-US" dirty="0">
                <a:latin typeface="PT Serif Caption" panose="02060603050505020204" pitchFamily="18" charset="77"/>
              </a:rPr>
              <a:t>Insights &amp; Recommendations</a:t>
            </a:r>
          </a:p>
        </p:txBody>
      </p:sp>
      <p:sp>
        <p:nvSpPr>
          <p:cNvPr id="15" name="Triangle 14">
            <a:extLst>
              <a:ext uri="{FF2B5EF4-FFF2-40B4-BE49-F238E27FC236}">
                <a16:creationId xmlns:a16="http://schemas.microsoft.com/office/drawing/2014/main" id="{A7152735-71AC-5850-656F-9447B2E928F6}"/>
              </a:ext>
            </a:extLst>
          </p:cNvPr>
          <p:cNvSpPr/>
          <p:nvPr/>
        </p:nvSpPr>
        <p:spPr>
          <a:xfrm rot="5400000">
            <a:off x="1209196" y="3576255"/>
            <a:ext cx="186431" cy="204186"/>
          </a:xfrm>
          <a:prstGeom prst="triangle">
            <a:avLst/>
          </a:prstGeom>
          <a:solidFill>
            <a:srgbClr val="8F5A3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635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ADB3FA3B-E05A-040C-FE41-7F23509C8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6351D-4DBC-E5CA-6050-E9357AB80B38}"/>
              </a:ext>
            </a:extLst>
          </p:cNvPr>
          <p:cNvSpPr>
            <a:spLocks noGrp="1"/>
          </p:cNvSpPr>
          <p:nvPr>
            <p:ph type="ctrTitle"/>
          </p:nvPr>
        </p:nvSpPr>
        <p:spPr>
          <a:xfrm>
            <a:off x="5691697" y="276210"/>
            <a:ext cx="5089864" cy="417252"/>
          </a:xfrm>
        </p:spPr>
        <p:txBody>
          <a:bodyPr>
            <a:normAutofit fontScale="90000"/>
          </a:bodyPr>
          <a:lstStyle/>
          <a:p>
            <a:r>
              <a:rPr lang="en-US" sz="2400" b="1">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EA341807-37D2-CE7A-5963-8F845921C392}"/>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36FFDBF5-22BC-2583-1408-0CEEBCAD9754}"/>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6382B15-9BA1-1E7A-ADF5-46D9CA5517A4}"/>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62896DF0-A112-8AB2-0B47-38F0BBEE6495}"/>
              </a:ext>
            </a:extLst>
          </p:cNvPr>
          <p:cNvSpPr>
            <a:spLocks noGrp="1"/>
          </p:cNvSpPr>
          <p:nvPr>
            <p:ph type="sldNum" sz="quarter" idx="12"/>
          </p:nvPr>
        </p:nvSpPr>
        <p:spPr/>
        <p:txBody>
          <a:bodyPr/>
          <a:lstStyle/>
          <a:p>
            <a:fld id="{47F0EFCC-1059-DB4C-ACF8-9275869D03E5}" type="slidenum">
              <a:rPr lang="en-US" smtClean="0">
                <a:solidFill>
                  <a:srgbClr val="F5F0E7"/>
                </a:solidFill>
              </a:rPr>
              <a:t>3</a:t>
            </a:fld>
            <a:endParaRPr lang="en-US">
              <a:solidFill>
                <a:srgbClr val="F5F0E7"/>
              </a:solidFill>
            </a:endParaRPr>
          </a:p>
        </p:txBody>
      </p:sp>
      <p:sp>
        <p:nvSpPr>
          <p:cNvPr id="9" name="Title 1">
            <a:extLst>
              <a:ext uri="{FF2B5EF4-FFF2-40B4-BE49-F238E27FC236}">
                <a16:creationId xmlns:a16="http://schemas.microsoft.com/office/drawing/2014/main" id="{0A2BF2D8-2188-A47D-CC07-65EA234EFC2F}"/>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27AB3351-F117-D601-CAFA-33B76688067A}"/>
              </a:ext>
            </a:extLst>
          </p:cNvPr>
          <p:cNvSpPr txBox="1"/>
          <p:nvPr/>
        </p:nvSpPr>
        <p:spPr>
          <a:xfrm>
            <a:off x="610307" y="1594730"/>
            <a:ext cx="6388258" cy="1477328"/>
          </a:xfrm>
          <a:prstGeom prst="rect">
            <a:avLst/>
          </a:prstGeom>
          <a:noFill/>
        </p:spPr>
        <p:txBody>
          <a:bodyPr wrap="square">
            <a:spAutoFit/>
          </a:bodyPr>
          <a:lstStyle/>
          <a:p>
            <a:r>
              <a:rPr lang="en-US" dirty="0">
                <a:latin typeface="PT Serif Caption" panose="02060603050505020204" pitchFamily="18" charset="77"/>
                <a:cs typeface="Calibri" panose="020F0502020204030204" pitchFamily="34" charset="0"/>
              </a:rPr>
              <a:t>To assess the accuracy of our revenue forecasts, identify the sources of error across products and model versions, evaluate the role of external factors, and determine fast, actionable improvements to strengthen forecasting reliability.</a:t>
            </a:r>
          </a:p>
        </p:txBody>
      </p:sp>
      <p:pic>
        <p:nvPicPr>
          <p:cNvPr id="18" name="Picture 17" descr="A graph of different shades of brown&#10;&#10;AI-generated content may be incorrect.">
            <a:extLst>
              <a:ext uri="{FF2B5EF4-FFF2-40B4-BE49-F238E27FC236}">
                <a16:creationId xmlns:a16="http://schemas.microsoft.com/office/drawing/2014/main" id="{843E4A0F-CE80-3403-278C-2A8CBB6C6081}"/>
              </a:ext>
            </a:extLst>
          </p:cNvPr>
          <p:cNvPicPr>
            <a:picLocks noChangeAspect="1"/>
          </p:cNvPicPr>
          <p:nvPr/>
        </p:nvPicPr>
        <p:blipFill>
          <a:blip r:embed="rId3"/>
          <a:stretch>
            <a:fillRect/>
          </a:stretch>
        </p:blipFill>
        <p:spPr>
          <a:xfrm>
            <a:off x="7696200" y="2665151"/>
            <a:ext cx="4572000" cy="3416300"/>
          </a:xfrm>
          <a:prstGeom prst="rect">
            <a:avLst/>
          </a:prstGeom>
        </p:spPr>
      </p:pic>
      <p:cxnSp>
        <p:nvCxnSpPr>
          <p:cNvPr id="20" name="Straight Connector 19">
            <a:extLst>
              <a:ext uri="{FF2B5EF4-FFF2-40B4-BE49-F238E27FC236}">
                <a16:creationId xmlns:a16="http://schemas.microsoft.com/office/drawing/2014/main" id="{8413B0D8-C282-FC11-E81B-F65E26A27D1D}"/>
              </a:ext>
            </a:extLst>
          </p:cNvPr>
          <p:cNvCxnSpPr>
            <a:endCxn id="18" idx="0"/>
          </p:cNvCxnSpPr>
          <p:nvPr/>
        </p:nvCxnSpPr>
        <p:spPr>
          <a:xfrm flipV="1">
            <a:off x="8189843" y="2665151"/>
            <a:ext cx="1792357" cy="1598736"/>
          </a:xfrm>
          <a:prstGeom prst="line">
            <a:avLst/>
          </a:prstGeom>
          <a:ln>
            <a:solidFill>
              <a:srgbClr val="8F5A3A"/>
            </a:solidFill>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8109D25-1087-9B34-7947-BBCEEBE05AA1}"/>
              </a:ext>
            </a:extLst>
          </p:cNvPr>
          <p:cNvCxnSpPr>
            <a:cxnSpLocks/>
          </p:cNvCxnSpPr>
          <p:nvPr/>
        </p:nvCxnSpPr>
        <p:spPr>
          <a:xfrm flipV="1">
            <a:off x="10679836" y="2107096"/>
            <a:ext cx="1038399" cy="725556"/>
          </a:xfrm>
          <a:prstGeom prst="straightConnector1">
            <a:avLst/>
          </a:prstGeom>
          <a:ln>
            <a:solidFill>
              <a:srgbClr val="8F5A3A"/>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43D790D-DE6D-D244-15E9-CDC8A7EC063B}"/>
              </a:ext>
            </a:extLst>
          </p:cNvPr>
          <p:cNvCxnSpPr>
            <a:stCxn id="18" idx="0"/>
          </p:cNvCxnSpPr>
          <p:nvPr/>
        </p:nvCxnSpPr>
        <p:spPr>
          <a:xfrm>
            <a:off x="9982200" y="2665151"/>
            <a:ext cx="697636" cy="177440"/>
          </a:xfrm>
          <a:prstGeom prst="line">
            <a:avLst/>
          </a:prstGeom>
          <a:ln>
            <a:solidFill>
              <a:srgbClr val="8F5A3A"/>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797C106-F57D-58D1-9188-B8DFFAE86AF5}"/>
              </a:ext>
            </a:extLst>
          </p:cNvPr>
          <p:cNvSpPr txBox="1"/>
          <p:nvPr/>
        </p:nvSpPr>
        <p:spPr>
          <a:xfrm>
            <a:off x="9372606" y="644316"/>
            <a:ext cx="1307230" cy="338554"/>
          </a:xfrm>
          <a:prstGeom prst="rect">
            <a:avLst/>
          </a:prstGeom>
          <a:noFill/>
        </p:spPr>
        <p:txBody>
          <a:bodyPr wrap="square">
            <a:spAutoFit/>
          </a:bodyPr>
          <a:lstStyle/>
          <a:p>
            <a:r>
              <a:rPr lang="en-US" sz="1600" dirty="0">
                <a:latin typeface="PT Serif Caption" panose="02060603050505020204" pitchFamily="18" charset="77"/>
              </a:rPr>
              <a:t>Objective</a:t>
            </a:r>
          </a:p>
        </p:txBody>
      </p:sp>
    </p:spTree>
    <p:extLst>
      <p:ext uri="{BB962C8B-B14F-4D97-AF65-F5344CB8AC3E}">
        <p14:creationId xmlns:p14="http://schemas.microsoft.com/office/powerpoint/2010/main" val="3607758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1FC65EB7-3F6D-25ED-2F03-974C5CF58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62EF8-A4CE-1E04-AEF4-747154F25F3E}"/>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B40C0D5C-D8F1-E9F2-ADE1-3AC44FD31DC0}"/>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E544FD4-4C2A-CF7B-4140-026F9BAF12EA}"/>
              </a:ext>
            </a:extLst>
          </p:cNvPr>
          <p:cNvCxnSpPr>
            <a:cxnSpLocks/>
          </p:cNvCxnSpPr>
          <p:nvPr/>
        </p:nvCxnSpPr>
        <p:spPr>
          <a:xfrm>
            <a:off x="10679836" y="276210"/>
            <a:ext cx="0" cy="41725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B0876C08-3B2A-FBB2-1AD6-3F20FAFB0B41}"/>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F487DE42-0CA5-17CB-9BFA-307E0BF0B843}"/>
              </a:ext>
            </a:extLst>
          </p:cNvPr>
          <p:cNvSpPr>
            <a:spLocks noGrp="1"/>
          </p:cNvSpPr>
          <p:nvPr>
            <p:ph type="sldNum" sz="quarter" idx="12"/>
          </p:nvPr>
        </p:nvSpPr>
        <p:spPr/>
        <p:txBody>
          <a:bodyPr/>
          <a:lstStyle/>
          <a:p>
            <a:fld id="{47F0EFCC-1059-DB4C-ACF8-9275869D03E5}" type="slidenum">
              <a:rPr lang="en-US" smtClean="0">
                <a:solidFill>
                  <a:srgbClr val="F5F0E7"/>
                </a:solidFill>
              </a:rPr>
              <a:t>4</a:t>
            </a:fld>
            <a:endParaRPr lang="en-US" dirty="0">
              <a:solidFill>
                <a:srgbClr val="F5F0E7"/>
              </a:solidFill>
            </a:endParaRPr>
          </a:p>
        </p:txBody>
      </p:sp>
      <p:sp>
        <p:nvSpPr>
          <p:cNvPr id="9" name="Title 1">
            <a:extLst>
              <a:ext uri="{FF2B5EF4-FFF2-40B4-BE49-F238E27FC236}">
                <a16:creationId xmlns:a16="http://schemas.microsoft.com/office/drawing/2014/main" id="{8757BBF8-BA5D-CB70-D487-B7687EA71504}"/>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3" name="Title 1">
            <a:extLst>
              <a:ext uri="{FF2B5EF4-FFF2-40B4-BE49-F238E27FC236}">
                <a16:creationId xmlns:a16="http://schemas.microsoft.com/office/drawing/2014/main" id="{E197E775-1BBD-2553-22C7-1006E119DC73}"/>
              </a:ext>
            </a:extLst>
          </p:cNvPr>
          <p:cNvSpPr>
            <a:spLocks noGrp="1"/>
          </p:cNvSpPr>
          <p:nvPr>
            <p:ph type="subTitle" idx="1"/>
          </p:nvPr>
        </p:nvSpPr>
        <p:spPr>
          <a:xfrm>
            <a:off x="4261282" y="1664602"/>
            <a:ext cx="5971713" cy="795867"/>
          </a:xfrm>
        </p:spPr>
        <p:txBody>
          <a:bodyPr>
            <a:normAutofit fontScale="97500" lnSpcReduction="10000"/>
          </a:bodyPr>
          <a:lstStyle/>
          <a:p>
            <a:r>
              <a:rPr lang="en-US" sz="5400" b="1" dirty="0">
                <a:latin typeface="PT Serif Caption" panose="02060603050505020204" pitchFamily="18" charset="77"/>
              </a:rPr>
              <a:t>Approach</a:t>
            </a:r>
          </a:p>
        </p:txBody>
      </p:sp>
      <p:sp>
        <p:nvSpPr>
          <p:cNvPr id="14" name="TextBox 13">
            <a:extLst>
              <a:ext uri="{FF2B5EF4-FFF2-40B4-BE49-F238E27FC236}">
                <a16:creationId xmlns:a16="http://schemas.microsoft.com/office/drawing/2014/main" id="{85DFBFD4-0EBF-16D9-CE58-19D53D1021C2}"/>
              </a:ext>
            </a:extLst>
          </p:cNvPr>
          <p:cNvSpPr txBox="1"/>
          <p:nvPr/>
        </p:nvSpPr>
        <p:spPr>
          <a:xfrm>
            <a:off x="1513835" y="3511527"/>
            <a:ext cx="3622090" cy="1661993"/>
          </a:xfrm>
          <a:prstGeom prst="rect">
            <a:avLst/>
          </a:prstGeom>
          <a:noFill/>
        </p:spPr>
        <p:txBody>
          <a:bodyPr wrap="square" rtlCol="0">
            <a:spAutoFit/>
          </a:bodyPr>
          <a:lstStyle/>
          <a:p>
            <a:r>
              <a:rPr lang="en-US" dirty="0">
                <a:latin typeface="PT Serif Caption" panose="02060603050505020204" pitchFamily="18" charset="77"/>
                <a:cs typeface="Calibri" panose="020F0502020204030204" pitchFamily="34" charset="0"/>
              </a:rPr>
              <a:t>Objective</a:t>
            </a:r>
          </a:p>
          <a:p>
            <a:endParaRPr lang="en-US" sz="1000" dirty="0">
              <a:latin typeface="PT Serif Caption" panose="02060603050505020204" pitchFamily="18" charset="77"/>
              <a:cs typeface="Calibri" panose="020F0502020204030204" pitchFamily="34" charset="0"/>
            </a:endParaRPr>
          </a:p>
          <a:p>
            <a:r>
              <a:rPr lang="en-US" b="1" dirty="0">
                <a:latin typeface="PT Serif Caption" panose="02060603050505020204" pitchFamily="18" charset="77"/>
                <a:cs typeface="Calibri" panose="020F0502020204030204" pitchFamily="34" charset="0"/>
              </a:rPr>
              <a:t>Approach</a:t>
            </a:r>
          </a:p>
          <a:p>
            <a:endParaRPr lang="en-US" sz="1000" dirty="0">
              <a:latin typeface="PT Serif Caption" panose="02060603050505020204" pitchFamily="18" charset="77"/>
              <a:cs typeface="Calibri" panose="020F0502020204030204" pitchFamily="34" charset="0"/>
            </a:endParaRPr>
          </a:p>
          <a:p>
            <a:r>
              <a:rPr lang="en-US" dirty="0">
                <a:latin typeface="PT Serif Caption" panose="02060603050505020204" pitchFamily="18" charset="77"/>
                <a:cs typeface="Calibri" panose="020F0502020204030204" pitchFamily="34" charset="0"/>
              </a:rPr>
              <a:t>Analysis</a:t>
            </a:r>
          </a:p>
          <a:p>
            <a:endParaRPr lang="en-US" sz="1000" dirty="0">
              <a:latin typeface="PT Serif Caption" panose="02060603050505020204" pitchFamily="18" charset="77"/>
              <a:cs typeface="Calibri" panose="020F0502020204030204" pitchFamily="34" charset="0"/>
            </a:endParaRPr>
          </a:p>
          <a:p>
            <a:r>
              <a:rPr lang="en-US" dirty="0">
                <a:latin typeface="PT Serif Caption" panose="02060603050505020204" pitchFamily="18" charset="77"/>
              </a:rPr>
              <a:t>Insights &amp; Recommendations</a:t>
            </a:r>
          </a:p>
        </p:txBody>
      </p:sp>
      <p:sp>
        <p:nvSpPr>
          <p:cNvPr id="15" name="Triangle 14">
            <a:extLst>
              <a:ext uri="{FF2B5EF4-FFF2-40B4-BE49-F238E27FC236}">
                <a16:creationId xmlns:a16="http://schemas.microsoft.com/office/drawing/2014/main" id="{10978AF1-9FDE-C475-E1FF-ED55C7B8009D}"/>
              </a:ext>
            </a:extLst>
          </p:cNvPr>
          <p:cNvSpPr/>
          <p:nvPr/>
        </p:nvSpPr>
        <p:spPr>
          <a:xfrm rot="5400000">
            <a:off x="1219135" y="3982437"/>
            <a:ext cx="186431" cy="204186"/>
          </a:xfrm>
          <a:prstGeom prst="triangle">
            <a:avLst/>
          </a:prstGeom>
          <a:solidFill>
            <a:srgbClr val="8F5A3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0697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8121E88A-A641-0254-D04C-70A9C8EAD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35F4A-906F-A194-4EC4-B8F083C46B03}"/>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3B4977FB-8F53-0404-96B8-0D67BC53E3A5}"/>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9330283F-D82E-60EA-D250-E8BF2136473A}"/>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B86F8E0-9D8F-135B-C36A-38FF78259E3B}"/>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972BBC51-C687-3EB4-4501-C765794B4D4A}"/>
              </a:ext>
            </a:extLst>
          </p:cNvPr>
          <p:cNvSpPr>
            <a:spLocks noGrp="1"/>
          </p:cNvSpPr>
          <p:nvPr>
            <p:ph type="sldNum" sz="quarter" idx="12"/>
          </p:nvPr>
        </p:nvSpPr>
        <p:spPr/>
        <p:txBody>
          <a:bodyPr/>
          <a:lstStyle/>
          <a:p>
            <a:fld id="{47F0EFCC-1059-DB4C-ACF8-9275869D03E5}" type="slidenum">
              <a:rPr lang="en-US" smtClean="0">
                <a:solidFill>
                  <a:srgbClr val="F5F0E7"/>
                </a:solidFill>
              </a:rPr>
              <a:t>5</a:t>
            </a:fld>
            <a:endParaRPr lang="en-US" dirty="0">
              <a:solidFill>
                <a:srgbClr val="F5F0E7"/>
              </a:solidFill>
            </a:endParaRPr>
          </a:p>
        </p:txBody>
      </p:sp>
      <p:sp>
        <p:nvSpPr>
          <p:cNvPr id="9" name="Title 1">
            <a:extLst>
              <a:ext uri="{FF2B5EF4-FFF2-40B4-BE49-F238E27FC236}">
                <a16:creationId xmlns:a16="http://schemas.microsoft.com/office/drawing/2014/main" id="{D4A3B4BA-F1FA-6948-D3A3-73C0A1F58B18}"/>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729A09F0-1DCF-72FE-1EB1-91175EF87BF9}"/>
              </a:ext>
            </a:extLst>
          </p:cNvPr>
          <p:cNvSpPr txBox="1"/>
          <p:nvPr/>
        </p:nvSpPr>
        <p:spPr>
          <a:xfrm>
            <a:off x="561560" y="1263798"/>
            <a:ext cx="7320170" cy="4524315"/>
          </a:xfrm>
          <a:prstGeom prst="rect">
            <a:avLst/>
          </a:prstGeom>
          <a:noFill/>
        </p:spPr>
        <p:txBody>
          <a:bodyPr wrap="square">
            <a:spAutoFit/>
          </a:bodyPr>
          <a:lstStyle/>
          <a:p>
            <a:pPr marL="342900" indent="-342900">
              <a:buAutoNum type="arabicPeriod"/>
            </a:pPr>
            <a:r>
              <a:rPr lang="en-US" b="1" dirty="0">
                <a:latin typeface="PT Serif Caption" panose="02060603050505020204" pitchFamily="18" charset="77"/>
              </a:rPr>
              <a:t>Evaluate the current forecasting performance</a:t>
            </a:r>
            <a:br>
              <a:rPr lang="en-US" dirty="0">
                <a:latin typeface="PT Serif Caption" panose="02060603050505020204" pitchFamily="18" charset="77"/>
              </a:rPr>
            </a:br>
            <a:r>
              <a:rPr lang="en-US" dirty="0">
                <a:latin typeface="PT Serif Caption" panose="02060603050505020204" pitchFamily="18" charset="77"/>
              </a:rPr>
              <a:t>Assessed portfolio-level trends and quantified error using MAPE and bias to understand the scope of misalignment.</a:t>
            </a:r>
          </a:p>
          <a:p>
            <a:pPr marL="342900" indent="-342900">
              <a:buAutoNum type="arabicPeriod"/>
            </a:pPr>
            <a:endParaRPr lang="en-US" b="1" dirty="0">
              <a:latin typeface="PT Serif Caption" panose="02060603050505020204" pitchFamily="18" charset="77"/>
            </a:endParaRPr>
          </a:p>
          <a:p>
            <a:pPr marL="342900" indent="-342900">
              <a:buAutoNum type="arabicPeriod"/>
            </a:pPr>
            <a:r>
              <a:rPr lang="en-US" b="1" dirty="0">
                <a:latin typeface="PT Serif Caption" panose="02060603050505020204" pitchFamily="18" charset="77"/>
              </a:rPr>
              <a:t>Identify where the model fails</a:t>
            </a:r>
            <a:br>
              <a:rPr lang="en-US" dirty="0">
                <a:latin typeface="PT Serif Caption" panose="02060603050505020204" pitchFamily="18" charset="77"/>
              </a:rPr>
            </a:br>
            <a:r>
              <a:rPr lang="en-US" dirty="0">
                <a:latin typeface="PT Serif Caption" panose="02060603050505020204" pitchFamily="18" charset="77"/>
              </a:rPr>
              <a:t>Compared accuracy across products and model versions to isolate instability and recurring weaknesses.</a:t>
            </a:r>
          </a:p>
          <a:p>
            <a:pPr marL="342900" indent="-342900">
              <a:buAutoNum type="arabicPeriod"/>
            </a:pPr>
            <a:endParaRPr lang="en-US" dirty="0">
              <a:latin typeface="PT Serif Caption" panose="02060603050505020204" pitchFamily="18" charset="77"/>
            </a:endParaRPr>
          </a:p>
          <a:p>
            <a:pPr marL="342900" indent="-342900">
              <a:buAutoNum type="arabicPeriod"/>
            </a:pPr>
            <a:r>
              <a:rPr lang="en-US" b="1" dirty="0">
                <a:latin typeface="PT Serif Caption" panose="02060603050505020204" pitchFamily="18" charset="77"/>
              </a:rPr>
              <a:t>Examine external drivers</a:t>
            </a:r>
            <a:br>
              <a:rPr lang="en-US" dirty="0">
                <a:latin typeface="PT Serif Caption" panose="02060603050505020204" pitchFamily="18" charset="77"/>
              </a:rPr>
            </a:br>
            <a:r>
              <a:rPr lang="en-US" dirty="0">
                <a:latin typeface="PT Serif Caption" panose="02060603050505020204" pitchFamily="18" charset="77"/>
              </a:rPr>
              <a:t>Analyzed whether macro demand or marketing intensity contributed to error variability.</a:t>
            </a:r>
          </a:p>
          <a:p>
            <a:pPr marL="342900" indent="-342900">
              <a:buAutoNum type="arabicPeriod"/>
            </a:pPr>
            <a:endParaRPr lang="en-US" b="1" dirty="0">
              <a:latin typeface="PT Serif Caption" panose="02060603050505020204" pitchFamily="18" charset="77"/>
            </a:endParaRPr>
          </a:p>
          <a:p>
            <a:pPr marL="342900" indent="-342900">
              <a:buAutoNum type="arabicPeriod"/>
            </a:pPr>
            <a:r>
              <a:rPr lang="en-US" b="1" dirty="0">
                <a:latin typeface="PT Serif Caption" panose="02060603050505020204" pitchFamily="18" charset="77"/>
              </a:rPr>
              <a:t>Apply rapid accuracy improvement</a:t>
            </a:r>
            <a:br>
              <a:rPr lang="en-US" dirty="0">
                <a:latin typeface="PT Serif Caption" panose="02060603050505020204" pitchFamily="18" charset="77"/>
              </a:rPr>
            </a:br>
            <a:r>
              <a:rPr lang="en-US" dirty="0">
                <a:latin typeface="PT Serif Caption" panose="02060603050505020204" pitchFamily="18" charset="77"/>
              </a:rPr>
              <a:t>Designed and tested a simple calibration overlay to assess how much accuracy could be gained without new model development.</a:t>
            </a:r>
          </a:p>
        </p:txBody>
      </p:sp>
      <p:sp>
        <p:nvSpPr>
          <p:cNvPr id="31" name="TextBox 30">
            <a:extLst>
              <a:ext uri="{FF2B5EF4-FFF2-40B4-BE49-F238E27FC236}">
                <a16:creationId xmlns:a16="http://schemas.microsoft.com/office/drawing/2014/main" id="{CDF6E5DB-D164-4979-ABCE-848447AF7D1B}"/>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Approach</a:t>
            </a:r>
          </a:p>
        </p:txBody>
      </p:sp>
      <p:pic>
        <p:nvPicPr>
          <p:cNvPr id="5" name="Picture 4" descr="A light bulb with a light bulb inside&#10;&#10;AI-generated content may be incorrect.">
            <a:extLst>
              <a:ext uri="{FF2B5EF4-FFF2-40B4-BE49-F238E27FC236}">
                <a16:creationId xmlns:a16="http://schemas.microsoft.com/office/drawing/2014/main" id="{35D6F827-F18C-F65C-87A0-0BC54DF2E72E}"/>
              </a:ext>
            </a:extLst>
          </p:cNvPr>
          <p:cNvPicPr>
            <a:picLocks noChangeAspect="1"/>
          </p:cNvPicPr>
          <p:nvPr/>
        </p:nvPicPr>
        <p:blipFill>
          <a:blip r:embed="rId3"/>
          <a:stretch>
            <a:fillRect/>
          </a:stretch>
        </p:blipFill>
        <p:spPr>
          <a:xfrm>
            <a:off x="8895804" y="1973139"/>
            <a:ext cx="1885757" cy="2828635"/>
          </a:xfrm>
          <a:prstGeom prst="rect">
            <a:avLst/>
          </a:prstGeom>
        </p:spPr>
      </p:pic>
    </p:spTree>
    <p:extLst>
      <p:ext uri="{BB962C8B-B14F-4D97-AF65-F5344CB8AC3E}">
        <p14:creationId xmlns:p14="http://schemas.microsoft.com/office/powerpoint/2010/main" val="1303674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50972759-74D9-8732-A41F-387FF79531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4167C-8405-67F9-617A-28E980F9C112}"/>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B8F78F2D-25F8-997F-D58C-1D235B96FC1B}"/>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9780A574-658C-0DE9-8E5A-18508FC3EF78}"/>
              </a:ext>
            </a:extLst>
          </p:cNvPr>
          <p:cNvCxnSpPr>
            <a:cxnSpLocks/>
          </p:cNvCxnSpPr>
          <p:nvPr/>
        </p:nvCxnSpPr>
        <p:spPr>
          <a:xfrm>
            <a:off x="10679836" y="276210"/>
            <a:ext cx="0" cy="41725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D38204EF-A855-E137-B95E-0F7DC1C0AD04}"/>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C24A2195-8846-1D1B-773D-A28F483108CB}"/>
              </a:ext>
            </a:extLst>
          </p:cNvPr>
          <p:cNvSpPr>
            <a:spLocks noGrp="1"/>
          </p:cNvSpPr>
          <p:nvPr>
            <p:ph type="sldNum" sz="quarter" idx="12"/>
          </p:nvPr>
        </p:nvSpPr>
        <p:spPr/>
        <p:txBody>
          <a:bodyPr/>
          <a:lstStyle/>
          <a:p>
            <a:fld id="{47F0EFCC-1059-DB4C-ACF8-9275869D03E5}" type="slidenum">
              <a:rPr lang="en-US" smtClean="0">
                <a:solidFill>
                  <a:srgbClr val="F5F0E7"/>
                </a:solidFill>
              </a:rPr>
              <a:t>6</a:t>
            </a:fld>
            <a:endParaRPr lang="en-US" dirty="0">
              <a:solidFill>
                <a:srgbClr val="F5F0E7"/>
              </a:solidFill>
            </a:endParaRPr>
          </a:p>
        </p:txBody>
      </p:sp>
      <p:sp>
        <p:nvSpPr>
          <p:cNvPr id="9" name="Title 1">
            <a:extLst>
              <a:ext uri="{FF2B5EF4-FFF2-40B4-BE49-F238E27FC236}">
                <a16:creationId xmlns:a16="http://schemas.microsoft.com/office/drawing/2014/main" id="{AB995D20-6174-DF2B-89F7-B723A5EF36DD}"/>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3" name="Title 1">
            <a:extLst>
              <a:ext uri="{FF2B5EF4-FFF2-40B4-BE49-F238E27FC236}">
                <a16:creationId xmlns:a16="http://schemas.microsoft.com/office/drawing/2014/main" id="{7FEEF090-10C9-7D18-AE76-AEB98DCD79D1}"/>
              </a:ext>
            </a:extLst>
          </p:cNvPr>
          <p:cNvSpPr>
            <a:spLocks noGrp="1"/>
          </p:cNvSpPr>
          <p:nvPr>
            <p:ph type="subTitle" idx="1"/>
          </p:nvPr>
        </p:nvSpPr>
        <p:spPr>
          <a:xfrm>
            <a:off x="4261282" y="1664602"/>
            <a:ext cx="5971713" cy="795867"/>
          </a:xfrm>
        </p:spPr>
        <p:txBody>
          <a:bodyPr>
            <a:normAutofit fontScale="97500" lnSpcReduction="10000"/>
          </a:bodyPr>
          <a:lstStyle/>
          <a:p>
            <a:r>
              <a:rPr lang="en-US" sz="5400" b="1" dirty="0">
                <a:latin typeface="PT Serif Caption" panose="02060603050505020204" pitchFamily="18" charset="77"/>
              </a:rPr>
              <a:t>Analysis</a:t>
            </a:r>
          </a:p>
        </p:txBody>
      </p:sp>
      <p:sp>
        <p:nvSpPr>
          <p:cNvPr id="14" name="TextBox 13">
            <a:extLst>
              <a:ext uri="{FF2B5EF4-FFF2-40B4-BE49-F238E27FC236}">
                <a16:creationId xmlns:a16="http://schemas.microsoft.com/office/drawing/2014/main" id="{A5134B8C-BF4C-0453-6953-033E8E49D53E}"/>
              </a:ext>
            </a:extLst>
          </p:cNvPr>
          <p:cNvSpPr txBox="1"/>
          <p:nvPr/>
        </p:nvSpPr>
        <p:spPr>
          <a:xfrm>
            <a:off x="1513835" y="3511527"/>
            <a:ext cx="3622090" cy="1661993"/>
          </a:xfrm>
          <a:prstGeom prst="rect">
            <a:avLst/>
          </a:prstGeom>
          <a:noFill/>
        </p:spPr>
        <p:txBody>
          <a:bodyPr wrap="square" rtlCol="0">
            <a:spAutoFit/>
          </a:bodyPr>
          <a:lstStyle/>
          <a:p>
            <a:r>
              <a:rPr lang="en-US" dirty="0">
                <a:latin typeface="PT Serif Caption" panose="02060603050505020204" pitchFamily="18" charset="77"/>
                <a:cs typeface="Calibri" panose="020F0502020204030204" pitchFamily="34" charset="0"/>
              </a:rPr>
              <a:t>Objective</a:t>
            </a:r>
          </a:p>
          <a:p>
            <a:endParaRPr lang="en-US" sz="1000" dirty="0">
              <a:latin typeface="PT Serif Caption" panose="02060603050505020204" pitchFamily="18" charset="77"/>
              <a:cs typeface="Calibri" panose="020F0502020204030204" pitchFamily="34" charset="0"/>
            </a:endParaRPr>
          </a:p>
          <a:p>
            <a:r>
              <a:rPr lang="en-US" dirty="0">
                <a:latin typeface="PT Serif Caption" panose="02060603050505020204" pitchFamily="18" charset="77"/>
                <a:cs typeface="Calibri" panose="020F0502020204030204" pitchFamily="34" charset="0"/>
              </a:rPr>
              <a:t>Approach</a:t>
            </a:r>
          </a:p>
          <a:p>
            <a:endParaRPr lang="en-US" sz="1000" dirty="0">
              <a:latin typeface="PT Serif Caption" panose="02060603050505020204" pitchFamily="18" charset="77"/>
              <a:cs typeface="Calibri" panose="020F0502020204030204" pitchFamily="34" charset="0"/>
            </a:endParaRPr>
          </a:p>
          <a:p>
            <a:r>
              <a:rPr lang="en-US" b="1" dirty="0">
                <a:latin typeface="PT Serif Caption" panose="02060603050505020204" pitchFamily="18" charset="77"/>
                <a:cs typeface="Calibri" panose="020F0502020204030204" pitchFamily="34" charset="0"/>
              </a:rPr>
              <a:t>Analysis</a:t>
            </a:r>
          </a:p>
          <a:p>
            <a:endParaRPr lang="en-US" sz="1000" dirty="0">
              <a:latin typeface="PT Serif Caption" panose="02060603050505020204" pitchFamily="18" charset="77"/>
              <a:cs typeface="Calibri" panose="020F0502020204030204" pitchFamily="34" charset="0"/>
            </a:endParaRPr>
          </a:p>
          <a:p>
            <a:r>
              <a:rPr lang="en-US" dirty="0">
                <a:latin typeface="PT Serif Caption" panose="02060603050505020204" pitchFamily="18" charset="77"/>
              </a:rPr>
              <a:t>Insights &amp; Recommendations</a:t>
            </a:r>
          </a:p>
        </p:txBody>
      </p:sp>
      <p:sp>
        <p:nvSpPr>
          <p:cNvPr id="15" name="Triangle 14">
            <a:extLst>
              <a:ext uri="{FF2B5EF4-FFF2-40B4-BE49-F238E27FC236}">
                <a16:creationId xmlns:a16="http://schemas.microsoft.com/office/drawing/2014/main" id="{A2C67976-E4B0-6FCE-4B66-0C537D0F8CA5}"/>
              </a:ext>
            </a:extLst>
          </p:cNvPr>
          <p:cNvSpPr/>
          <p:nvPr/>
        </p:nvSpPr>
        <p:spPr>
          <a:xfrm rot="5400000">
            <a:off x="1239013" y="4429699"/>
            <a:ext cx="186431" cy="204186"/>
          </a:xfrm>
          <a:prstGeom prst="triangle">
            <a:avLst/>
          </a:prstGeom>
          <a:solidFill>
            <a:srgbClr val="8F5A3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195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69FA2007-970E-C611-5CA6-DB1223024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83F62-7ACC-F0E0-0A2A-A0B29C595A67}"/>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9CB5FD4A-7741-DF79-4573-7A3447B547B0}"/>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D288C46-A467-45BB-B031-8DE3D0789C65}"/>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7D7FFD59-4B5D-5B6E-F0AC-18E341673A2B}"/>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37A025B2-F2E9-8463-045C-577D04A7B44A}"/>
              </a:ext>
            </a:extLst>
          </p:cNvPr>
          <p:cNvSpPr>
            <a:spLocks noGrp="1"/>
          </p:cNvSpPr>
          <p:nvPr>
            <p:ph type="sldNum" sz="quarter" idx="12"/>
          </p:nvPr>
        </p:nvSpPr>
        <p:spPr/>
        <p:txBody>
          <a:bodyPr/>
          <a:lstStyle/>
          <a:p>
            <a:fld id="{47F0EFCC-1059-DB4C-ACF8-9275869D03E5}" type="slidenum">
              <a:rPr lang="en-US" smtClean="0">
                <a:solidFill>
                  <a:srgbClr val="F5F0E7"/>
                </a:solidFill>
              </a:rPr>
              <a:t>7</a:t>
            </a:fld>
            <a:endParaRPr lang="en-US" dirty="0">
              <a:solidFill>
                <a:srgbClr val="F5F0E7"/>
              </a:solidFill>
            </a:endParaRPr>
          </a:p>
        </p:txBody>
      </p:sp>
      <p:sp>
        <p:nvSpPr>
          <p:cNvPr id="9" name="Title 1">
            <a:extLst>
              <a:ext uri="{FF2B5EF4-FFF2-40B4-BE49-F238E27FC236}">
                <a16:creationId xmlns:a16="http://schemas.microsoft.com/office/drawing/2014/main" id="{77445DAE-FB63-FBA4-75D4-AAD9744BBF2B}"/>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117FB388-86E2-260C-9720-3AAD022FCEE3}"/>
              </a:ext>
            </a:extLst>
          </p:cNvPr>
          <p:cNvSpPr txBox="1"/>
          <p:nvPr/>
        </p:nvSpPr>
        <p:spPr>
          <a:xfrm>
            <a:off x="1102302" y="4591714"/>
            <a:ext cx="9178789" cy="1200329"/>
          </a:xfrm>
          <a:prstGeom prst="rect">
            <a:avLst/>
          </a:prstGeom>
          <a:noFill/>
        </p:spPr>
        <p:txBody>
          <a:bodyPr wrap="square">
            <a:spAutoFit/>
          </a:bodyPr>
          <a:lstStyle/>
          <a:p>
            <a:pPr lvl="0" eaLnBrk="0" fontAlgn="base" hangingPunct="0">
              <a:spcBef>
                <a:spcPct val="0"/>
              </a:spcBef>
              <a:spcAft>
                <a:spcPct val="0"/>
              </a:spcAft>
            </a:pPr>
            <a:r>
              <a:rPr lang="en-US" b="1" dirty="0">
                <a:latin typeface="PT Serif Caption" panose="02060603050505020204" pitchFamily="18" charset="77"/>
              </a:rPr>
              <a:t>How accurate is the overall revenue forecast?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Forecasts follow overall trend but fail to capture short-term fluctuations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Largest deviations occur during seasonal peaks and macro-driven shifts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Forecast tends to lead actual performance during rapid growth periods</a:t>
            </a:r>
          </a:p>
        </p:txBody>
      </p:sp>
      <p:sp>
        <p:nvSpPr>
          <p:cNvPr id="31" name="TextBox 30">
            <a:extLst>
              <a:ext uri="{FF2B5EF4-FFF2-40B4-BE49-F238E27FC236}">
                <a16:creationId xmlns:a16="http://schemas.microsoft.com/office/drawing/2014/main" id="{4D6641C7-6243-2679-1EB9-01ED53E4578E}"/>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Analysis</a:t>
            </a:r>
          </a:p>
        </p:txBody>
      </p:sp>
      <p:pic>
        <p:nvPicPr>
          <p:cNvPr id="3" name="Picture 2">
            <a:extLst>
              <a:ext uri="{FF2B5EF4-FFF2-40B4-BE49-F238E27FC236}">
                <a16:creationId xmlns:a16="http://schemas.microsoft.com/office/drawing/2014/main" id="{186EFDD6-F383-640D-9011-79B548ED8CAE}"/>
              </a:ext>
            </a:extLst>
          </p:cNvPr>
          <p:cNvPicPr>
            <a:picLocks noChangeAspect="1"/>
          </p:cNvPicPr>
          <p:nvPr/>
        </p:nvPicPr>
        <p:blipFill>
          <a:blip r:embed="rId3"/>
          <a:stretch>
            <a:fillRect/>
          </a:stretch>
        </p:blipFill>
        <p:spPr>
          <a:xfrm>
            <a:off x="1181433" y="1216206"/>
            <a:ext cx="6261100" cy="3086100"/>
          </a:xfrm>
          <a:prstGeom prst="rect">
            <a:avLst/>
          </a:prstGeom>
          <a:ln w="38100">
            <a:solidFill>
              <a:srgbClr val="8F5A3A"/>
            </a:solidFill>
          </a:ln>
        </p:spPr>
      </p:pic>
    </p:spTree>
    <p:extLst>
      <p:ext uri="{BB962C8B-B14F-4D97-AF65-F5344CB8AC3E}">
        <p14:creationId xmlns:p14="http://schemas.microsoft.com/office/powerpoint/2010/main" val="3697629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54500130-29BD-13D3-A3FF-E3F49EDAD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E130C-CEDE-4A12-7BEB-9744F29C81EC}"/>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620AEE44-791B-41F6-6EE2-9B53D4788C2B}"/>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791A7652-0A45-44C0-0194-ADFE14C10852}"/>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C236ABE-F047-ADEB-5F1B-E25AD02F0189}"/>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E50672C7-D65B-FB00-1252-CC4083FB2EDE}"/>
              </a:ext>
            </a:extLst>
          </p:cNvPr>
          <p:cNvSpPr>
            <a:spLocks noGrp="1"/>
          </p:cNvSpPr>
          <p:nvPr>
            <p:ph type="sldNum" sz="quarter" idx="12"/>
          </p:nvPr>
        </p:nvSpPr>
        <p:spPr/>
        <p:txBody>
          <a:bodyPr/>
          <a:lstStyle/>
          <a:p>
            <a:fld id="{47F0EFCC-1059-DB4C-ACF8-9275869D03E5}" type="slidenum">
              <a:rPr lang="en-US" smtClean="0">
                <a:solidFill>
                  <a:srgbClr val="F5F0E7"/>
                </a:solidFill>
              </a:rPr>
              <a:t>8</a:t>
            </a:fld>
            <a:endParaRPr lang="en-US" dirty="0">
              <a:solidFill>
                <a:srgbClr val="F5F0E7"/>
              </a:solidFill>
            </a:endParaRPr>
          </a:p>
        </p:txBody>
      </p:sp>
      <p:sp>
        <p:nvSpPr>
          <p:cNvPr id="9" name="Title 1">
            <a:extLst>
              <a:ext uri="{FF2B5EF4-FFF2-40B4-BE49-F238E27FC236}">
                <a16:creationId xmlns:a16="http://schemas.microsoft.com/office/drawing/2014/main" id="{58CB326F-0F53-A39F-F298-C49944FECC24}"/>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DCE6CB76-0EAC-1AAC-C20C-F764BE5FFBED}"/>
              </a:ext>
            </a:extLst>
          </p:cNvPr>
          <p:cNvSpPr txBox="1"/>
          <p:nvPr/>
        </p:nvSpPr>
        <p:spPr>
          <a:xfrm>
            <a:off x="1102302" y="4591714"/>
            <a:ext cx="9178789" cy="1200329"/>
          </a:xfrm>
          <a:prstGeom prst="rect">
            <a:avLst/>
          </a:prstGeom>
          <a:noFill/>
        </p:spPr>
        <p:txBody>
          <a:bodyPr wrap="square">
            <a:spAutoFit/>
          </a:bodyPr>
          <a:lstStyle/>
          <a:p>
            <a:pPr lvl="0" eaLnBrk="0" fontAlgn="base" hangingPunct="0">
              <a:spcBef>
                <a:spcPct val="0"/>
              </a:spcBef>
              <a:spcAft>
                <a:spcPct val="0"/>
              </a:spcAft>
            </a:pPr>
            <a:r>
              <a:rPr lang="en-US" b="1" dirty="0">
                <a:latin typeface="PT Serif Caption" panose="02060603050505020204" pitchFamily="18" charset="77"/>
              </a:rPr>
              <a:t>Which products contribute most to forecasting error?</a:t>
            </a:r>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PT Serif Caption" panose="02060603050505020204" pitchFamily="18" charset="77"/>
              </a:rPr>
              <a:t>PayFlow</a:t>
            </a:r>
            <a:r>
              <a:rPr lang="en-US" altLang="en-US" dirty="0">
                <a:latin typeface="PT Serif Caption" panose="02060603050505020204" pitchFamily="18" charset="77"/>
              </a:rPr>
              <a:t> shows the highest error and greatest volatility</a:t>
            </a:r>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PT Serif Caption" panose="02060603050505020204" pitchFamily="18" charset="77"/>
              </a:rPr>
              <a:t>InsightPlus</a:t>
            </a:r>
            <a:r>
              <a:rPr lang="en-US" altLang="en-US" dirty="0">
                <a:latin typeface="PT Serif Caption" panose="02060603050505020204" pitchFamily="18" charset="77"/>
              </a:rPr>
              <a:t> is consistently stable across months</a:t>
            </a:r>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PT Serif Caption" panose="02060603050505020204" pitchFamily="18" charset="77"/>
              </a:rPr>
              <a:t>FlexCredit</a:t>
            </a:r>
            <a:r>
              <a:rPr lang="en-US" altLang="en-US" dirty="0">
                <a:latin typeface="PT Serif Caption" panose="02060603050505020204" pitchFamily="18" charset="77"/>
              </a:rPr>
              <a:t> demonstrates moderate, steady error patterns</a:t>
            </a:r>
          </a:p>
        </p:txBody>
      </p:sp>
      <p:sp>
        <p:nvSpPr>
          <p:cNvPr id="31" name="TextBox 30">
            <a:extLst>
              <a:ext uri="{FF2B5EF4-FFF2-40B4-BE49-F238E27FC236}">
                <a16:creationId xmlns:a16="http://schemas.microsoft.com/office/drawing/2014/main" id="{604FD748-995C-BA4B-2EF1-262FC66694CC}"/>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Analysis</a:t>
            </a:r>
          </a:p>
        </p:txBody>
      </p:sp>
      <p:pic>
        <p:nvPicPr>
          <p:cNvPr id="5" name="Picture 4">
            <a:extLst>
              <a:ext uri="{FF2B5EF4-FFF2-40B4-BE49-F238E27FC236}">
                <a16:creationId xmlns:a16="http://schemas.microsoft.com/office/drawing/2014/main" id="{FBFBA715-B0F2-B0FD-44CB-2EF17684D22C}"/>
              </a:ext>
            </a:extLst>
          </p:cNvPr>
          <p:cNvPicPr>
            <a:picLocks noChangeAspect="1"/>
          </p:cNvPicPr>
          <p:nvPr/>
        </p:nvPicPr>
        <p:blipFill>
          <a:blip r:embed="rId3"/>
          <a:stretch>
            <a:fillRect/>
          </a:stretch>
        </p:blipFill>
        <p:spPr>
          <a:xfrm>
            <a:off x="1190225" y="1216206"/>
            <a:ext cx="4356100" cy="3086100"/>
          </a:xfrm>
          <a:prstGeom prst="rect">
            <a:avLst/>
          </a:prstGeom>
          <a:ln w="38100">
            <a:solidFill>
              <a:srgbClr val="8F5A3A"/>
            </a:solidFill>
          </a:ln>
        </p:spPr>
      </p:pic>
    </p:spTree>
    <p:extLst>
      <p:ext uri="{BB962C8B-B14F-4D97-AF65-F5344CB8AC3E}">
        <p14:creationId xmlns:p14="http://schemas.microsoft.com/office/powerpoint/2010/main" val="1108108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59D46FF0-16FE-B00F-1E1F-4C0371D84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E6D76-6C4C-D1C3-EB99-01851D998E75}"/>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0387508D-CD0D-567C-F47B-26005C8173DB}"/>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1DEB50CA-E043-FFD2-4D38-49D73167D1BE}"/>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3168A01-083F-89F6-59A6-1493443212DD}"/>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B88AD7A4-82C3-34C8-DEC6-C8B9C7FE166C}"/>
              </a:ext>
            </a:extLst>
          </p:cNvPr>
          <p:cNvSpPr>
            <a:spLocks noGrp="1"/>
          </p:cNvSpPr>
          <p:nvPr>
            <p:ph type="sldNum" sz="quarter" idx="12"/>
          </p:nvPr>
        </p:nvSpPr>
        <p:spPr/>
        <p:txBody>
          <a:bodyPr/>
          <a:lstStyle/>
          <a:p>
            <a:fld id="{47F0EFCC-1059-DB4C-ACF8-9275869D03E5}" type="slidenum">
              <a:rPr lang="en-US" smtClean="0">
                <a:solidFill>
                  <a:srgbClr val="F5F0E7"/>
                </a:solidFill>
              </a:rPr>
              <a:t>9</a:t>
            </a:fld>
            <a:endParaRPr lang="en-US" dirty="0">
              <a:solidFill>
                <a:srgbClr val="F5F0E7"/>
              </a:solidFill>
            </a:endParaRPr>
          </a:p>
        </p:txBody>
      </p:sp>
      <p:sp>
        <p:nvSpPr>
          <p:cNvPr id="9" name="Title 1">
            <a:extLst>
              <a:ext uri="{FF2B5EF4-FFF2-40B4-BE49-F238E27FC236}">
                <a16:creationId xmlns:a16="http://schemas.microsoft.com/office/drawing/2014/main" id="{7E379419-E957-5088-D342-75CD1DEFC206}"/>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61D7F381-4747-49DB-EAC3-50AC239614B1}"/>
              </a:ext>
            </a:extLst>
          </p:cNvPr>
          <p:cNvSpPr txBox="1"/>
          <p:nvPr/>
        </p:nvSpPr>
        <p:spPr>
          <a:xfrm>
            <a:off x="1102302" y="4591714"/>
            <a:ext cx="9178789" cy="1200329"/>
          </a:xfrm>
          <a:prstGeom prst="rect">
            <a:avLst/>
          </a:prstGeom>
          <a:noFill/>
        </p:spPr>
        <p:txBody>
          <a:bodyPr wrap="square">
            <a:spAutoFit/>
          </a:bodyPr>
          <a:lstStyle/>
          <a:p>
            <a:pPr lvl="0" eaLnBrk="0" fontAlgn="base" hangingPunct="0">
              <a:spcBef>
                <a:spcPct val="0"/>
              </a:spcBef>
              <a:spcAft>
                <a:spcPct val="0"/>
              </a:spcAft>
            </a:pPr>
            <a:r>
              <a:rPr lang="en-US" b="1" dirty="0">
                <a:latin typeface="PT Serif Caption" panose="02060603050505020204" pitchFamily="18" charset="77"/>
              </a:rPr>
              <a:t>Did newer model versions improve accuracy?</a:t>
            </a:r>
          </a:p>
          <a:p>
            <a:pPr marL="285750" indent="-285750">
              <a:buFont typeface="Arial" panose="020B0604020202020204" pitchFamily="34" charset="0"/>
              <a:buChar char="•"/>
            </a:pPr>
            <a:r>
              <a:rPr lang="en-US" dirty="0">
                <a:latin typeface="PT Serif Caption" panose="02060603050505020204" pitchFamily="18" charset="77"/>
              </a:rPr>
              <a:t>v3 performs better than earlier versions in mid-year</a:t>
            </a:r>
          </a:p>
          <a:p>
            <a:pPr marL="285750" indent="-285750">
              <a:buFont typeface="Arial" panose="020B0604020202020204" pitchFamily="34" charset="0"/>
              <a:buChar char="•"/>
            </a:pPr>
            <a:r>
              <a:rPr lang="en-US" dirty="0">
                <a:latin typeface="PT Serif Caption" panose="02060603050505020204" pitchFamily="18" charset="77"/>
              </a:rPr>
              <a:t>v2 exhibits the weakest performance across variants</a:t>
            </a:r>
          </a:p>
          <a:p>
            <a:pPr marL="285750" indent="-285750">
              <a:buFont typeface="Arial" panose="020B0604020202020204" pitchFamily="34" charset="0"/>
              <a:buChar char="•"/>
            </a:pPr>
            <a:r>
              <a:rPr lang="en-US" dirty="0">
                <a:latin typeface="PT Serif Caption" panose="02060603050505020204" pitchFamily="18" charset="77"/>
              </a:rPr>
              <a:t>Model upgrades do not deliver consistent improvement</a:t>
            </a:r>
          </a:p>
        </p:txBody>
      </p:sp>
      <p:sp>
        <p:nvSpPr>
          <p:cNvPr id="31" name="TextBox 30">
            <a:extLst>
              <a:ext uri="{FF2B5EF4-FFF2-40B4-BE49-F238E27FC236}">
                <a16:creationId xmlns:a16="http://schemas.microsoft.com/office/drawing/2014/main" id="{0C4AF8A7-10E5-72D7-5967-AA0937A4699D}"/>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Analysis</a:t>
            </a:r>
          </a:p>
        </p:txBody>
      </p:sp>
      <p:pic>
        <p:nvPicPr>
          <p:cNvPr id="3" name="Picture 2">
            <a:extLst>
              <a:ext uri="{FF2B5EF4-FFF2-40B4-BE49-F238E27FC236}">
                <a16:creationId xmlns:a16="http://schemas.microsoft.com/office/drawing/2014/main" id="{F1983A47-925C-A2FD-AD0E-8FE9D7ED69C2}"/>
              </a:ext>
            </a:extLst>
          </p:cNvPr>
          <p:cNvPicPr>
            <a:picLocks noChangeAspect="1"/>
          </p:cNvPicPr>
          <p:nvPr/>
        </p:nvPicPr>
        <p:blipFill>
          <a:blip r:embed="rId3"/>
          <a:stretch>
            <a:fillRect/>
          </a:stretch>
        </p:blipFill>
        <p:spPr>
          <a:xfrm>
            <a:off x="1199017" y="1216206"/>
            <a:ext cx="4356100" cy="3086100"/>
          </a:xfrm>
          <a:prstGeom prst="rect">
            <a:avLst/>
          </a:prstGeom>
          <a:ln w="38100">
            <a:solidFill>
              <a:srgbClr val="8F5A3A"/>
            </a:solidFill>
          </a:ln>
        </p:spPr>
      </p:pic>
      <p:pic>
        <p:nvPicPr>
          <p:cNvPr id="10" name="Picture 9">
            <a:extLst>
              <a:ext uri="{FF2B5EF4-FFF2-40B4-BE49-F238E27FC236}">
                <a16:creationId xmlns:a16="http://schemas.microsoft.com/office/drawing/2014/main" id="{ED8CAEFA-D1DA-3A43-64E8-18E57867FD2D}"/>
              </a:ext>
            </a:extLst>
          </p:cNvPr>
          <p:cNvPicPr>
            <a:picLocks noChangeAspect="1"/>
          </p:cNvPicPr>
          <p:nvPr/>
        </p:nvPicPr>
        <p:blipFill>
          <a:blip r:embed="rId4"/>
          <a:stretch>
            <a:fillRect/>
          </a:stretch>
        </p:blipFill>
        <p:spPr>
          <a:xfrm>
            <a:off x="5797550" y="1216206"/>
            <a:ext cx="4882281" cy="3086100"/>
          </a:xfrm>
          <a:prstGeom prst="rect">
            <a:avLst/>
          </a:prstGeom>
          <a:ln w="38100">
            <a:solidFill>
              <a:srgbClr val="8F5A3A"/>
            </a:solidFill>
          </a:ln>
        </p:spPr>
      </p:pic>
    </p:spTree>
    <p:extLst>
      <p:ext uri="{BB962C8B-B14F-4D97-AF65-F5344CB8AC3E}">
        <p14:creationId xmlns:p14="http://schemas.microsoft.com/office/powerpoint/2010/main" val="4131068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4A7C985F-8BF3-A61F-4CA1-4AB9462D4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64753-8D08-97A4-17EE-DBFBD68AC74F}"/>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F545E0FD-EF61-4AF0-18C0-8BC2F25F89A1}"/>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4160F56-BC99-1165-D224-FD8757C8AB8E}"/>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0087CEF9-1193-39D0-D536-15A6BB10B8EB}"/>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37D02EA3-D7BE-8D55-2E6A-58B0EE37FB51}"/>
              </a:ext>
            </a:extLst>
          </p:cNvPr>
          <p:cNvSpPr>
            <a:spLocks noGrp="1"/>
          </p:cNvSpPr>
          <p:nvPr>
            <p:ph type="sldNum" sz="quarter" idx="12"/>
          </p:nvPr>
        </p:nvSpPr>
        <p:spPr/>
        <p:txBody>
          <a:bodyPr/>
          <a:lstStyle/>
          <a:p>
            <a:fld id="{47F0EFCC-1059-DB4C-ACF8-9275869D03E5}" type="slidenum">
              <a:rPr lang="en-US" smtClean="0">
                <a:solidFill>
                  <a:srgbClr val="F5F0E7"/>
                </a:solidFill>
              </a:rPr>
              <a:t>10</a:t>
            </a:fld>
            <a:endParaRPr lang="en-US" dirty="0">
              <a:solidFill>
                <a:srgbClr val="F5F0E7"/>
              </a:solidFill>
            </a:endParaRPr>
          </a:p>
        </p:txBody>
      </p:sp>
      <p:sp>
        <p:nvSpPr>
          <p:cNvPr id="9" name="Title 1">
            <a:extLst>
              <a:ext uri="{FF2B5EF4-FFF2-40B4-BE49-F238E27FC236}">
                <a16:creationId xmlns:a16="http://schemas.microsoft.com/office/drawing/2014/main" id="{C5A17379-1CCF-2C0A-B127-984B740D7CCF}"/>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A5FF77C3-949E-81B5-E26C-7CC36841DA46}"/>
              </a:ext>
            </a:extLst>
          </p:cNvPr>
          <p:cNvSpPr txBox="1"/>
          <p:nvPr/>
        </p:nvSpPr>
        <p:spPr>
          <a:xfrm>
            <a:off x="1102302" y="4591714"/>
            <a:ext cx="9178789" cy="1477328"/>
          </a:xfrm>
          <a:prstGeom prst="rect">
            <a:avLst/>
          </a:prstGeom>
          <a:noFill/>
        </p:spPr>
        <p:txBody>
          <a:bodyPr wrap="square">
            <a:spAutoFit/>
          </a:bodyPr>
          <a:lstStyle/>
          <a:p>
            <a:pPr lvl="0" eaLnBrk="0" fontAlgn="base" hangingPunct="0">
              <a:spcBef>
                <a:spcPct val="0"/>
              </a:spcBef>
              <a:spcAft>
                <a:spcPct val="0"/>
              </a:spcAft>
            </a:pPr>
            <a:r>
              <a:rPr lang="en-US" b="1" dirty="0">
                <a:latin typeface="PT Serif Caption" panose="02060603050505020204" pitchFamily="18" charset="77"/>
              </a:rPr>
              <a:t>Do external factors influence forecasting error?</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Macro Demand Index shows moderate correlation with error</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Forecasting error increases during periods of macro volatility</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Marketing Ratio shows minimal influence on forecast accuracy</a:t>
            </a:r>
          </a:p>
          <a:p>
            <a:pPr lvl="0" eaLnBrk="0" fontAlgn="base" hangingPunct="0">
              <a:spcBef>
                <a:spcPct val="0"/>
              </a:spcBef>
              <a:spcAft>
                <a:spcPct val="0"/>
              </a:spcAft>
            </a:pPr>
            <a:endParaRPr lang="en-US" b="1" dirty="0">
              <a:latin typeface="PT Serif Caption" panose="02060603050505020204" pitchFamily="18" charset="77"/>
            </a:endParaRPr>
          </a:p>
        </p:txBody>
      </p:sp>
      <p:sp>
        <p:nvSpPr>
          <p:cNvPr id="31" name="TextBox 30">
            <a:extLst>
              <a:ext uri="{FF2B5EF4-FFF2-40B4-BE49-F238E27FC236}">
                <a16:creationId xmlns:a16="http://schemas.microsoft.com/office/drawing/2014/main" id="{EAEC9C78-F719-7AA6-C2FD-85831E2F8A8D}"/>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Analysis</a:t>
            </a:r>
          </a:p>
        </p:txBody>
      </p:sp>
      <p:pic>
        <p:nvPicPr>
          <p:cNvPr id="3" name="Picture 2">
            <a:extLst>
              <a:ext uri="{FF2B5EF4-FFF2-40B4-BE49-F238E27FC236}">
                <a16:creationId xmlns:a16="http://schemas.microsoft.com/office/drawing/2014/main" id="{FB3FF0BA-8691-2635-350F-59536350FBD3}"/>
              </a:ext>
            </a:extLst>
          </p:cNvPr>
          <p:cNvPicPr>
            <a:picLocks noChangeAspect="1"/>
          </p:cNvPicPr>
          <p:nvPr/>
        </p:nvPicPr>
        <p:blipFill>
          <a:blip r:embed="rId3"/>
          <a:stretch>
            <a:fillRect/>
          </a:stretch>
        </p:blipFill>
        <p:spPr>
          <a:xfrm>
            <a:off x="1199016" y="1176301"/>
            <a:ext cx="4577529" cy="3086100"/>
          </a:xfrm>
          <a:prstGeom prst="rect">
            <a:avLst/>
          </a:prstGeom>
          <a:ln w="38100">
            <a:solidFill>
              <a:srgbClr val="8F5A3A"/>
            </a:solidFill>
          </a:ln>
        </p:spPr>
      </p:pic>
      <p:pic>
        <p:nvPicPr>
          <p:cNvPr id="10" name="Picture 9">
            <a:extLst>
              <a:ext uri="{FF2B5EF4-FFF2-40B4-BE49-F238E27FC236}">
                <a16:creationId xmlns:a16="http://schemas.microsoft.com/office/drawing/2014/main" id="{D249EE1C-C1A3-C30B-1567-68A12D7E3527}"/>
              </a:ext>
            </a:extLst>
          </p:cNvPr>
          <p:cNvPicPr>
            <a:picLocks noChangeAspect="1"/>
          </p:cNvPicPr>
          <p:nvPr/>
        </p:nvPicPr>
        <p:blipFill>
          <a:blip r:embed="rId4"/>
          <a:stretch>
            <a:fillRect/>
          </a:stretch>
        </p:blipFill>
        <p:spPr>
          <a:xfrm>
            <a:off x="6096001" y="1176301"/>
            <a:ext cx="4583836" cy="3086100"/>
          </a:xfrm>
          <a:prstGeom prst="rect">
            <a:avLst/>
          </a:prstGeom>
          <a:ln w="38100">
            <a:solidFill>
              <a:srgbClr val="8F5A3A"/>
            </a:solidFill>
          </a:ln>
        </p:spPr>
      </p:pic>
    </p:spTree>
    <p:extLst>
      <p:ext uri="{BB962C8B-B14F-4D97-AF65-F5344CB8AC3E}">
        <p14:creationId xmlns:p14="http://schemas.microsoft.com/office/powerpoint/2010/main" val="613103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259B1654-B2E4-E469-4964-2152E3116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BED6F-5A3A-1895-9897-78C35498F202}"/>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929D71F0-5C08-48E0-7ECC-E111291F150A}"/>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1FB9D57A-1CFB-2DA0-29D9-106F8BC1088A}"/>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B8B4A06-4A7A-8ABB-DB7C-036C4F056C6D}"/>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41A042FD-76BA-7BF0-E505-BC824392E8CF}"/>
              </a:ext>
            </a:extLst>
          </p:cNvPr>
          <p:cNvSpPr>
            <a:spLocks noGrp="1"/>
          </p:cNvSpPr>
          <p:nvPr>
            <p:ph type="sldNum" sz="quarter" idx="12"/>
          </p:nvPr>
        </p:nvSpPr>
        <p:spPr/>
        <p:txBody>
          <a:bodyPr/>
          <a:lstStyle/>
          <a:p>
            <a:fld id="{47F0EFCC-1059-DB4C-ACF8-9275869D03E5}" type="slidenum">
              <a:rPr lang="en-US" smtClean="0">
                <a:solidFill>
                  <a:srgbClr val="F5F0E7"/>
                </a:solidFill>
              </a:rPr>
              <a:t>11</a:t>
            </a:fld>
            <a:endParaRPr lang="en-US" dirty="0">
              <a:solidFill>
                <a:srgbClr val="F5F0E7"/>
              </a:solidFill>
            </a:endParaRPr>
          </a:p>
        </p:txBody>
      </p:sp>
      <p:sp>
        <p:nvSpPr>
          <p:cNvPr id="9" name="Title 1">
            <a:extLst>
              <a:ext uri="{FF2B5EF4-FFF2-40B4-BE49-F238E27FC236}">
                <a16:creationId xmlns:a16="http://schemas.microsoft.com/office/drawing/2014/main" id="{B6F5C499-2E3A-7550-A75A-A4AB01E0E221}"/>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2CF2EA26-986F-5FB0-3DB1-E5653EFB1356}"/>
              </a:ext>
            </a:extLst>
          </p:cNvPr>
          <p:cNvSpPr txBox="1"/>
          <p:nvPr/>
        </p:nvSpPr>
        <p:spPr>
          <a:xfrm>
            <a:off x="1102302" y="4591714"/>
            <a:ext cx="9178789" cy="1477328"/>
          </a:xfrm>
          <a:prstGeom prst="rect">
            <a:avLst/>
          </a:prstGeom>
          <a:noFill/>
        </p:spPr>
        <p:txBody>
          <a:bodyPr wrap="square">
            <a:spAutoFit/>
          </a:bodyPr>
          <a:lstStyle/>
          <a:p>
            <a:pPr lvl="0" eaLnBrk="0" fontAlgn="base" hangingPunct="0">
              <a:spcBef>
                <a:spcPct val="0"/>
              </a:spcBef>
              <a:spcAft>
                <a:spcPct val="0"/>
              </a:spcAft>
            </a:pPr>
            <a:r>
              <a:rPr lang="en-US" b="1" dirty="0">
                <a:latin typeface="PT Serif Caption" panose="02060603050505020204" pitchFamily="18" charset="77"/>
              </a:rPr>
              <a:t>Can accuracy improve without rebuilding the model?</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Calibration significantly reduces MAPE across products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Provides immediate accuracy uplift with minimal effort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Stabilizes short-term performance while deeper fixes are explored</a:t>
            </a:r>
          </a:p>
          <a:p>
            <a:pPr lvl="0" eaLnBrk="0" fontAlgn="base" hangingPunct="0">
              <a:spcBef>
                <a:spcPct val="0"/>
              </a:spcBef>
              <a:spcAft>
                <a:spcPct val="0"/>
              </a:spcAft>
            </a:pPr>
            <a:endParaRPr lang="en-US" b="1" dirty="0">
              <a:latin typeface="PT Serif Caption" panose="02060603050505020204" pitchFamily="18" charset="77"/>
            </a:endParaRPr>
          </a:p>
        </p:txBody>
      </p:sp>
      <p:sp>
        <p:nvSpPr>
          <p:cNvPr id="31" name="TextBox 30">
            <a:extLst>
              <a:ext uri="{FF2B5EF4-FFF2-40B4-BE49-F238E27FC236}">
                <a16:creationId xmlns:a16="http://schemas.microsoft.com/office/drawing/2014/main" id="{CCD4C99F-FA96-F235-FAD6-47EB4ECF1CA1}"/>
              </a:ext>
            </a:extLst>
          </p:cNvPr>
          <p:cNvSpPr txBox="1"/>
          <p:nvPr/>
        </p:nvSpPr>
        <p:spPr>
          <a:xfrm>
            <a:off x="9432237" y="644316"/>
            <a:ext cx="1247599" cy="338554"/>
          </a:xfrm>
          <a:prstGeom prst="rect">
            <a:avLst/>
          </a:prstGeom>
          <a:noFill/>
        </p:spPr>
        <p:txBody>
          <a:bodyPr wrap="square">
            <a:spAutoFit/>
          </a:bodyPr>
          <a:lstStyle/>
          <a:p>
            <a:r>
              <a:rPr lang="en-US" sz="1600" dirty="0">
                <a:latin typeface="PT Serif Caption" panose="02060603050505020204" pitchFamily="18" charset="77"/>
              </a:rPr>
              <a:t>Analysis</a:t>
            </a:r>
          </a:p>
        </p:txBody>
      </p:sp>
      <p:pic>
        <p:nvPicPr>
          <p:cNvPr id="3" name="Picture 2">
            <a:extLst>
              <a:ext uri="{FF2B5EF4-FFF2-40B4-BE49-F238E27FC236}">
                <a16:creationId xmlns:a16="http://schemas.microsoft.com/office/drawing/2014/main" id="{92D90CED-71D4-1B16-AC7C-06764E3AC7D7}"/>
              </a:ext>
            </a:extLst>
          </p:cNvPr>
          <p:cNvPicPr>
            <a:picLocks noChangeAspect="1"/>
          </p:cNvPicPr>
          <p:nvPr/>
        </p:nvPicPr>
        <p:blipFill>
          <a:blip r:embed="rId3"/>
          <a:stretch>
            <a:fillRect/>
          </a:stretch>
        </p:blipFill>
        <p:spPr>
          <a:xfrm>
            <a:off x="6096000" y="1216206"/>
            <a:ext cx="4583836" cy="3086100"/>
          </a:xfrm>
          <a:prstGeom prst="rect">
            <a:avLst/>
          </a:prstGeom>
          <a:ln w="38100">
            <a:solidFill>
              <a:srgbClr val="8F5A3A"/>
            </a:solidFill>
          </a:ln>
        </p:spPr>
      </p:pic>
      <p:pic>
        <p:nvPicPr>
          <p:cNvPr id="10" name="Picture 9">
            <a:extLst>
              <a:ext uri="{FF2B5EF4-FFF2-40B4-BE49-F238E27FC236}">
                <a16:creationId xmlns:a16="http://schemas.microsoft.com/office/drawing/2014/main" id="{CA5A3768-CFAF-0419-46BB-93B48D94AF43}"/>
              </a:ext>
            </a:extLst>
          </p:cNvPr>
          <p:cNvPicPr>
            <a:picLocks noChangeAspect="1"/>
          </p:cNvPicPr>
          <p:nvPr/>
        </p:nvPicPr>
        <p:blipFill>
          <a:blip r:embed="rId4"/>
          <a:stretch>
            <a:fillRect/>
          </a:stretch>
        </p:blipFill>
        <p:spPr>
          <a:xfrm>
            <a:off x="1207811" y="1216206"/>
            <a:ext cx="4595112" cy="3086100"/>
          </a:xfrm>
          <a:prstGeom prst="rect">
            <a:avLst/>
          </a:prstGeom>
          <a:ln w="38100">
            <a:solidFill>
              <a:srgbClr val="8F5A3A"/>
            </a:solidFill>
          </a:ln>
        </p:spPr>
      </p:pic>
    </p:spTree>
    <p:extLst>
      <p:ext uri="{BB962C8B-B14F-4D97-AF65-F5344CB8AC3E}">
        <p14:creationId xmlns:p14="http://schemas.microsoft.com/office/powerpoint/2010/main" val="256440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27680748-F369-2DBE-6AB2-B329EF000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9E6A8-556C-BEDF-DA27-2C2933B791FB}"/>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E391936D-2405-373B-C807-D9C3EC183E54}"/>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FF3C5D42-D51A-CDA1-8880-897A27B9C891}"/>
              </a:ext>
            </a:extLst>
          </p:cNvPr>
          <p:cNvCxnSpPr>
            <a:cxnSpLocks/>
          </p:cNvCxnSpPr>
          <p:nvPr/>
        </p:nvCxnSpPr>
        <p:spPr>
          <a:xfrm>
            <a:off x="10679836" y="276210"/>
            <a:ext cx="0" cy="41725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09A045A-FE22-C4EF-C932-2C24C3BC9B32}"/>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35ECAB6F-002E-F6C5-8DE5-D9CBB717DAA7}"/>
              </a:ext>
            </a:extLst>
          </p:cNvPr>
          <p:cNvSpPr>
            <a:spLocks noGrp="1"/>
          </p:cNvSpPr>
          <p:nvPr>
            <p:ph type="sldNum" sz="quarter" idx="12"/>
          </p:nvPr>
        </p:nvSpPr>
        <p:spPr/>
        <p:txBody>
          <a:bodyPr/>
          <a:lstStyle/>
          <a:p>
            <a:fld id="{47F0EFCC-1059-DB4C-ACF8-9275869D03E5}" type="slidenum">
              <a:rPr lang="en-US" smtClean="0">
                <a:solidFill>
                  <a:srgbClr val="F5F0E7"/>
                </a:solidFill>
              </a:rPr>
              <a:t>12</a:t>
            </a:fld>
            <a:endParaRPr lang="en-US" dirty="0">
              <a:solidFill>
                <a:srgbClr val="F5F0E7"/>
              </a:solidFill>
            </a:endParaRPr>
          </a:p>
        </p:txBody>
      </p:sp>
      <p:sp>
        <p:nvSpPr>
          <p:cNvPr id="9" name="Title 1">
            <a:extLst>
              <a:ext uri="{FF2B5EF4-FFF2-40B4-BE49-F238E27FC236}">
                <a16:creationId xmlns:a16="http://schemas.microsoft.com/office/drawing/2014/main" id="{9D53F98A-AB91-DB3F-6B70-846C1E13A02D}"/>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3" name="Title 1">
            <a:extLst>
              <a:ext uri="{FF2B5EF4-FFF2-40B4-BE49-F238E27FC236}">
                <a16:creationId xmlns:a16="http://schemas.microsoft.com/office/drawing/2014/main" id="{D3214400-4C57-B02E-7145-8328340C03D2}"/>
              </a:ext>
            </a:extLst>
          </p:cNvPr>
          <p:cNvSpPr>
            <a:spLocks noGrp="1"/>
          </p:cNvSpPr>
          <p:nvPr>
            <p:ph type="subTitle" idx="1"/>
          </p:nvPr>
        </p:nvSpPr>
        <p:spPr>
          <a:xfrm>
            <a:off x="4261282" y="1664602"/>
            <a:ext cx="6313953" cy="1764398"/>
          </a:xfrm>
        </p:spPr>
        <p:txBody>
          <a:bodyPr>
            <a:normAutofit fontScale="82500" lnSpcReduction="10000"/>
          </a:bodyPr>
          <a:lstStyle/>
          <a:p>
            <a:r>
              <a:rPr lang="en-US" sz="6000" b="1" dirty="0">
                <a:latin typeface="PT Serif Caption" panose="02060603050505020204" pitchFamily="18" charset="77"/>
              </a:rPr>
              <a:t>Insights &amp;</a:t>
            </a:r>
          </a:p>
          <a:p>
            <a:r>
              <a:rPr lang="en-US" sz="6000" b="1" dirty="0">
                <a:latin typeface="PT Serif Caption" panose="02060603050505020204" pitchFamily="18" charset="77"/>
              </a:rPr>
              <a:t>Recommendations</a:t>
            </a:r>
          </a:p>
          <a:p>
            <a:endParaRPr lang="en-US" sz="5400" b="1" dirty="0">
              <a:latin typeface="PT Serif Caption" panose="02060603050505020204" pitchFamily="18" charset="77"/>
            </a:endParaRPr>
          </a:p>
        </p:txBody>
      </p:sp>
      <p:sp>
        <p:nvSpPr>
          <p:cNvPr id="14" name="TextBox 13">
            <a:extLst>
              <a:ext uri="{FF2B5EF4-FFF2-40B4-BE49-F238E27FC236}">
                <a16:creationId xmlns:a16="http://schemas.microsoft.com/office/drawing/2014/main" id="{B3A96593-1633-23A3-ED80-1C90AD0A2208}"/>
              </a:ext>
            </a:extLst>
          </p:cNvPr>
          <p:cNvSpPr txBox="1"/>
          <p:nvPr/>
        </p:nvSpPr>
        <p:spPr>
          <a:xfrm>
            <a:off x="1513835" y="3511527"/>
            <a:ext cx="3622090" cy="1661993"/>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Objective</a:t>
            </a:r>
          </a:p>
          <a:p>
            <a:endParaRPr lang="en-US" sz="10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Approach</a:t>
            </a:r>
          </a:p>
          <a:p>
            <a:endParaRPr lang="en-US" sz="1000"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Analysis</a:t>
            </a:r>
          </a:p>
          <a:p>
            <a:endParaRPr lang="en-US" sz="1000" dirty="0">
              <a:latin typeface="Calibri" panose="020F0502020204030204" pitchFamily="34" charset="0"/>
              <a:cs typeface="Calibri" panose="020F0502020204030204" pitchFamily="34" charset="0"/>
            </a:endParaRPr>
          </a:p>
          <a:p>
            <a:r>
              <a:rPr lang="en-US" b="1" dirty="0"/>
              <a:t>Insights &amp; Recommendations</a:t>
            </a:r>
          </a:p>
        </p:txBody>
      </p:sp>
      <p:sp>
        <p:nvSpPr>
          <p:cNvPr id="15" name="Triangle 14">
            <a:extLst>
              <a:ext uri="{FF2B5EF4-FFF2-40B4-BE49-F238E27FC236}">
                <a16:creationId xmlns:a16="http://schemas.microsoft.com/office/drawing/2014/main" id="{A4A76159-6796-FD58-46ED-BCA7699F6E1E}"/>
              </a:ext>
            </a:extLst>
          </p:cNvPr>
          <p:cNvSpPr/>
          <p:nvPr/>
        </p:nvSpPr>
        <p:spPr>
          <a:xfrm rot="5400000">
            <a:off x="1248952" y="4867022"/>
            <a:ext cx="186431" cy="204186"/>
          </a:xfrm>
          <a:prstGeom prst="triangle">
            <a:avLst/>
          </a:prstGeom>
          <a:solidFill>
            <a:srgbClr val="8F5A3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5343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0CB6B357-D68E-EA9F-AD8D-BC405F9FB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D76F2-290D-40EB-6C74-093876294CFB}"/>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F7F23A8B-26E1-06A0-7508-F36BF573FD9F}"/>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3FDA236B-2B0C-2A1A-075F-9D5C729D667E}"/>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407999B-8062-0698-0A7A-7173C5F6CB93}"/>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F0E014F9-2037-E5A5-F026-F77CA54FADEF}"/>
              </a:ext>
            </a:extLst>
          </p:cNvPr>
          <p:cNvSpPr>
            <a:spLocks noGrp="1"/>
          </p:cNvSpPr>
          <p:nvPr>
            <p:ph type="sldNum" sz="quarter" idx="12"/>
          </p:nvPr>
        </p:nvSpPr>
        <p:spPr/>
        <p:txBody>
          <a:bodyPr/>
          <a:lstStyle/>
          <a:p>
            <a:fld id="{47F0EFCC-1059-DB4C-ACF8-9275869D03E5}" type="slidenum">
              <a:rPr lang="en-US" smtClean="0">
                <a:solidFill>
                  <a:srgbClr val="F5F0E7"/>
                </a:solidFill>
              </a:rPr>
              <a:t>13</a:t>
            </a:fld>
            <a:endParaRPr lang="en-US" dirty="0">
              <a:solidFill>
                <a:srgbClr val="F5F0E7"/>
              </a:solidFill>
            </a:endParaRPr>
          </a:p>
        </p:txBody>
      </p:sp>
      <p:sp>
        <p:nvSpPr>
          <p:cNvPr id="9" name="Title 1">
            <a:extLst>
              <a:ext uri="{FF2B5EF4-FFF2-40B4-BE49-F238E27FC236}">
                <a16:creationId xmlns:a16="http://schemas.microsoft.com/office/drawing/2014/main" id="{E2988904-14E6-9799-A0C9-ED197C7E791E}"/>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C6104E4D-E56C-A87A-48C6-4F31EEEAFA0C}"/>
              </a:ext>
            </a:extLst>
          </p:cNvPr>
          <p:cNvSpPr txBox="1"/>
          <p:nvPr/>
        </p:nvSpPr>
        <p:spPr>
          <a:xfrm>
            <a:off x="684858" y="1732876"/>
            <a:ext cx="8717559" cy="2585323"/>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Forecasts capture trend but not short-term shifts or seasonality.</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err="1">
                <a:latin typeface="PT Serif Caption" panose="02060603050505020204" pitchFamily="18" charset="77"/>
              </a:rPr>
              <a:t>PayFlow</a:t>
            </a:r>
            <a:r>
              <a:rPr lang="en-US" altLang="en-US" dirty="0">
                <a:latin typeface="PT Serif Caption" panose="02060603050505020204" pitchFamily="18" charset="77"/>
              </a:rPr>
              <a:t> contributes most to overall volatility.</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Model version upgrades are inconsistent.</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Macro-demand movements drive a meaningful portion of forecast error.</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Calibration provides fast, significant accuracy improvement.</a:t>
            </a:r>
          </a:p>
        </p:txBody>
      </p:sp>
      <p:sp>
        <p:nvSpPr>
          <p:cNvPr id="31" name="TextBox 30">
            <a:extLst>
              <a:ext uri="{FF2B5EF4-FFF2-40B4-BE49-F238E27FC236}">
                <a16:creationId xmlns:a16="http://schemas.microsoft.com/office/drawing/2014/main" id="{7B848903-DC7A-56C5-ACE1-8823656E271E}"/>
              </a:ext>
            </a:extLst>
          </p:cNvPr>
          <p:cNvSpPr txBox="1"/>
          <p:nvPr/>
        </p:nvSpPr>
        <p:spPr>
          <a:xfrm>
            <a:off x="9551507" y="644316"/>
            <a:ext cx="1128329" cy="338554"/>
          </a:xfrm>
          <a:prstGeom prst="rect">
            <a:avLst/>
          </a:prstGeom>
          <a:noFill/>
        </p:spPr>
        <p:txBody>
          <a:bodyPr wrap="square">
            <a:spAutoFit/>
          </a:bodyPr>
          <a:lstStyle/>
          <a:p>
            <a:r>
              <a:rPr lang="en-US" sz="1600" dirty="0">
                <a:latin typeface="PT Serif Caption" panose="02060603050505020204" pitchFamily="18" charset="77"/>
              </a:rPr>
              <a:t>Insights</a:t>
            </a:r>
          </a:p>
        </p:txBody>
      </p:sp>
    </p:spTree>
    <p:extLst>
      <p:ext uri="{BB962C8B-B14F-4D97-AF65-F5344CB8AC3E}">
        <p14:creationId xmlns:p14="http://schemas.microsoft.com/office/powerpoint/2010/main" val="956343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A7BDDAFC-61D0-D778-0E6B-F8EE43A60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06838-DDB6-B932-AF22-551A014EC26F}"/>
              </a:ext>
            </a:extLst>
          </p:cNvPr>
          <p:cNvSpPr>
            <a:spLocks noGrp="1"/>
          </p:cNvSpPr>
          <p:nvPr>
            <p:ph type="ctrTitle"/>
          </p:nvPr>
        </p:nvSpPr>
        <p:spPr>
          <a:xfrm>
            <a:off x="5691697" y="276210"/>
            <a:ext cx="5089864" cy="417252"/>
          </a:xfrm>
        </p:spPr>
        <p:txBody>
          <a:bodyPr>
            <a:normAutofit fontScale="90000"/>
          </a:bodyPr>
          <a:lstStyle/>
          <a:p>
            <a:r>
              <a:rPr lang="en-US" sz="2400" b="1" dirty="0">
                <a:solidFill>
                  <a:srgbClr val="8F5A3A"/>
                </a:solidFill>
                <a:latin typeface="PT Serif Caption" panose="02060603050505020204" pitchFamily="18" charset="77"/>
              </a:rPr>
              <a:t>Inaccurate Revenue Forecasting</a:t>
            </a:r>
          </a:p>
        </p:txBody>
      </p:sp>
      <p:sp>
        <p:nvSpPr>
          <p:cNvPr id="4" name="Rectangle 3">
            <a:extLst>
              <a:ext uri="{FF2B5EF4-FFF2-40B4-BE49-F238E27FC236}">
                <a16:creationId xmlns:a16="http://schemas.microsoft.com/office/drawing/2014/main" id="{1B0D425B-A4C3-FFE5-0DF2-0DDE9250FA96}"/>
              </a:ext>
            </a:extLst>
          </p:cNvPr>
          <p:cNvSpPr/>
          <p:nvPr/>
        </p:nvSpPr>
        <p:spPr>
          <a:xfrm>
            <a:off x="-62142" y="6081451"/>
            <a:ext cx="12254142"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2753C50-7B86-588F-2535-C45DF1869186}"/>
              </a:ext>
            </a:extLst>
          </p:cNvPr>
          <p:cNvCxnSpPr>
            <a:cxnSpLocks/>
          </p:cNvCxnSpPr>
          <p:nvPr/>
        </p:nvCxnSpPr>
        <p:spPr>
          <a:xfrm>
            <a:off x="10679836" y="276210"/>
            <a:ext cx="0" cy="72764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3B26742F-35A1-2D11-5B5E-A5CF81F64813}"/>
              </a:ext>
            </a:extLst>
          </p:cNvPr>
          <p:cNvSpPr txBox="1">
            <a:spLocks/>
          </p:cNvSpPr>
          <p:nvPr/>
        </p:nvSpPr>
        <p:spPr>
          <a:xfrm>
            <a:off x="10781561" y="276210"/>
            <a:ext cx="844118" cy="41725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200" b="1" dirty="0">
                <a:latin typeface="PT Serif Caption" panose="02060603050505020204" pitchFamily="18" charset="77"/>
              </a:rPr>
              <a:t>2025</a:t>
            </a:r>
          </a:p>
        </p:txBody>
      </p:sp>
      <p:sp>
        <p:nvSpPr>
          <p:cNvPr id="8" name="Slide Number Placeholder 7">
            <a:extLst>
              <a:ext uri="{FF2B5EF4-FFF2-40B4-BE49-F238E27FC236}">
                <a16:creationId xmlns:a16="http://schemas.microsoft.com/office/drawing/2014/main" id="{3EF87445-215B-0284-6845-45FCF45BC168}"/>
              </a:ext>
            </a:extLst>
          </p:cNvPr>
          <p:cNvSpPr>
            <a:spLocks noGrp="1"/>
          </p:cNvSpPr>
          <p:nvPr>
            <p:ph type="sldNum" sz="quarter" idx="12"/>
          </p:nvPr>
        </p:nvSpPr>
        <p:spPr/>
        <p:txBody>
          <a:bodyPr/>
          <a:lstStyle/>
          <a:p>
            <a:fld id="{47F0EFCC-1059-DB4C-ACF8-9275869D03E5}" type="slidenum">
              <a:rPr lang="en-US" smtClean="0">
                <a:solidFill>
                  <a:srgbClr val="F5F0E7"/>
                </a:solidFill>
              </a:rPr>
              <a:t>14</a:t>
            </a:fld>
            <a:endParaRPr lang="en-US" dirty="0">
              <a:solidFill>
                <a:srgbClr val="F5F0E7"/>
              </a:solidFill>
            </a:endParaRPr>
          </a:p>
        </p:txBody>
      </p:sp>
      <p:sp>
        <p:nvSpPr>
          <p:cNvPr id="9" name="Title 1">
            <a:extLst>
              <a:ext uri="{FF2B5EF4-FFF2-40B4-BE49-F238E27FC236}">
                <a16:creationId xmlns:a16="http://schemas.microsoft.com/office/drawing/2014/main" id="{CC223A15-415E-380F-0E26-38AB2F043F92}"/>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
        <p:nvSpPr>
          <p:cNvPr id="11" name="TextBox 10">
            <a:extLst>
              <a:ext uri="{FF2B5EF4-FFF2-40B4-BE49-F238E27FC236}">
                <a16:creationId xmlns:a16="http://schemas.microsoft.com/office/drawing/2014/main" id="{6F64404C-1864-D66F-604D-9473E2C5E440}"/>
              </a:ext>
            </a:extLst>
          </p:cNvPr>
          <p:cNvSpPr txBox="1"/>
          <p:nvPr/>
        </p:nvSpPr>
        <p:spPr>
          <a:xfrm>
            <a:off x="684858" y="1732876"/>
            <a:ext cx="9671716" cy="2585323"/>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Add seasonality and macro-demand features to forecasting logic.</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Prioritize refinement of </a:t>
            </a:r>
            <a:r>
              <a:rPr lang="en-US" altLang="en-US" dirty="0" err="1">
                <a:latin typeface="PT Serif Caption" panose="02060603050505020204" pitchFamily="18" charset="77"/>
              </a:rPr>
              <a:t>PayFlow</a:t>
            </a:r>
            <a:r>
              <a:rPr lang="en-US" altLang="en-US" dirty="0">
                <a:latin typeface="PT Serif Caption" panose="02060603050505020204" pitchFamily="18" charset="77"/>
              </a:rPr>
              <a:t> forecasting through segmentation.</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Establish a structured model version governance and testing process.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Monitor macroeconomic indicators monthly for proactive adjustments.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PT Serif Caption" panose="02060603050505020204" pitchFamily="18" charset="77"/>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PT Serif Caption" panose="02060603050505020204" pitchFamily="18" charset="77"/>
              </a:rPr>
              <a:t>Deploy calibration overlay as an immediate accuracy improvement mechanism.</a:t>
            </a:r>
          </a:p>
        </p:txBody>
      </p:sp>
      <p:sp>
        <p:nvSpPr>
          <p:cNvPr id="31" name="TextBox 30">
            <a:extLst>
              <a:ext uri="{FF2B5EF4-FFF2-40B4-BE49-F238E27FC236}">
                <a16:creationId xmlns:a16="http://schemas.microsoft.com/office/drawing/2014/main" id="{79704CFD-3180-56AE-EFF1-E9D691688424}"/>
              </a:ext>
            </a:extLst>
          </p:cNvPr>
          <p:cNvSpPr txBox="1"/>
          <p:nvPr/>
        </p:nvSpPr>
        <p:spPr>
          <a:xfrm>
            <a:off x="8537717" y="644316"/>
            <a:ext cx="2142120" cy="338554"/>
          </a:xfrm>
          <a:prstGeom prst="rect">
            <a:avLst/>
          </a:prstGeom>
          <a:noFill/>
        </p:spPr>
        <p:txBody>
          <a:bodyPr wrap="square">
            <a:spAutoFit/>
          </a:bodyPr>
          <a:lstStyle/>
          <a:p>
            <a:r>
              <a:rPr lang="en-US" sz="1600" dirty="0">
                <a:latin typeface="PT Serif Caption" panose="02060603050505020204" pitchFamily="18" charset="77"/>
              </a:rPr>
              <a:t>Recommendations</a:t>
            </a:r>
          </a:p>
        </p:txBody>
      </p:sp>
    </p:spTree>
    <p:extLst>
      <p:ext uri="{BB962C8B-B14F-4D97-AF65-F5344CB8AC3E}">
        <p14:creationId xmlns:p14="http://schemas.microsoft.com/office/powerpoint/2010/main" val="1376411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0E7"/>
        </a:solidFill>
        <a:effectLst/>
      </p:bgPr>
    </p:bg>
    <p:spTree>
      <p:nvGrpSpPr>
        <p:cNvPr id="1" name="">
          <a:extLst>
            <a:ext uri="{FF2B5EF4-FFF2-40B4-BE49-F238E27FC236}">
              <a16:creationId xmlns:a16="http://schemas.microsoft.com/office/drawing/2014/main" id="{1350E7FD-3E10-5A5E-7ED6-C00818785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B0C31-9333-09DE-8BD6-2F234909D196}"/>
              </a:ext>
            </a:extLst>
          </p:cNvPr>
          <p:cNvSpPr>
            <a:spLocks noGrp="1"/>
          </p:cNvSpPr>
          <p:nvPr>
            <p:ph type="ctrTitle"/>
          </p:nvPr>
        </p:nvSpPr>
        <p:spPr>
          <a:xfrm>
            <a:off x="4273061" y="2066191"/>
            <a:ext cx="2939163" cy="1793631"/>
          </a:xfrm>
        </p:spPr>
        <p:txBody>
          <a:bodyPr>
            <a:normAutofit/>
          </a:bodyPr>
          <a:lstStyle/>
          <a:p>
            <a:r>
              <a:rPr lang="en-US" b="1" dirty="0">
                <a:solidFill>
                  <a:srgbClr val="8F5A3A"/>
                </a:solidFill>
                <a:latin typeface="PT Serif Caption" panose="02060603050505020204" pitchFamily="18" charset="77"/>
              </a:rPr>
              <a:t>Thank</a:t>
            </a:r>
            <a:br>
              <a:rPr lang="en-US" b="1" dirty="0">
                <a:solidFill>
                  <a:srgbClr val="8F5A3A"/>
                </a:solidFill>
                <a:latin typeface="PT Serif Caption" panose="02060603050505020204" pitchFamily="18" charset="77"/>
              </a:rPr>
            </a:br>
            <a:r>
              <a:rPr lang="en-US" b="1" dirty="0">
                <a:solidFill>
                  <a:srgbClr val="8F5A3A"/>
                </a:solidFill>
                <a:latin typeface="PT Serif Caption" panose="02060603050505020204" pitchFamily="18" charset="77"/>
              </a:rPr>
              <a:t>You!</a:t>
            </a:r>
          </a:p>
        </p:txBody>
      </p:sp>
      <p:sp>
        <p:nvSpPr>
          <p:cNvPr id="4" name="Rectangle 3">
            <a:extLst>
              <a:ext uri="{FF2B5EF4-FFF2-40B4-BE49-F238E27FC236}">
                <a16:creationId xmlns:a16="http://schemas.microsoft.com/office/drawing/2014/main" id="{02C83F39-661F-938E-0F98-298F75752238}"/>
              </a:ext>
            </a:extLst>
          </p:cNvPr>
          <p:cNvSpPr/>
          <p:nvPr/>
        </p:nvSpPr>
        <p:spPr>
          <a:xfrm>
            <a:off x="0" y="6062133"/>
            <a:ext cx="12192000" cy="795867"/>
          </a:xfrm>
          <a:prstGeom prst="rect">
            <a:avLst/>
          </a:prstGeom>
          <a:solidFill>
            <a:srgbClr val="8F5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Slide Number Placeholder 7">
            <a:extLst>
              <a:ext uri="{FF2B5EF4-FFF2-40B4-BE49-F238E27FC236}">
                <a16:creationId xmlns:a16="http://schemas.microsoft.com/office/drawing/2014/main" id="{4D10B5B0-734A-97EF-0BEE-CB2755A16CB4}"/>
              </a:ext>
            </a:extLst>
          </p:cNvPr>
          <p:cNvSpPr>
            <a:spLocks noGrp="1"/>
          </p:cNvSpPr>
          <p:nvPr>
            <p:ph type="sldNum" sz="quarter" idx="12"/>
          </p:nvPr>
        </p:nvSpPr>
        <p:spPr/>
        <p:txBody>
          <a:bodyPr/>
          <a:lstStyle/>
          <a:p>
            <a:fld id="{47F0EFCC-1059-DB4C-ACF8-9275869D03E5}" type="slidenum">
              <a:rPr lang="en-US" smtClean="0">
                <a:solidFill>
                  <a:srgbClr val="F5F0E7"/>
                </a:solidFill>
              </a:rPr>
              <a:t>15</a:t>
            </a:fld>
            <a:endParaRPr lang="en-US" dirty="0">
              <a:solidFill>
                <a:srgbClr val="F5F0E7"/>
              </a:solidFill>
            </a:endParaRPr>
          </a:p>
        </p:txBody>
      </p:sp>
      <p:sp>
        <p:nvSpPr>
          <p:cNvPr id="5" name="Title 1">
            <a:extLst>
              <a:ext uri="{FF2B5EF4-FFF2-40B4-BE49-F238E27FC236}">
                <a16:creationId xmlns:a16="http://schemas.microsoft.com/office/drawing/2014/main" id="{FBA83A2B-4B08-65A1-76DB-E6955F88CC7C}"/>
              </a:ext>
            </a:extLst>
          </p:cNvPr>
          <p:cNvSpPr txBox="1">
            <a:spLocks/>
          </p:cNvSpPr>
          <p:nvPr/>
        </p:nvSpPr>
        <p:spPr>
          <a:xfrm>
            <a:off x="73979" y="6277503"/>
            <a:ext cx="3961308" cy="365125"/>
          </a:xfrm>
          <a:prstGeom prst="rect">
            <a:avLst/>
          </a:prstGeom>
        </p:spPr>
        <p:txBody>
          <a:bodyPr vert="horz" lIns="91440" tIns="45720" rIns="91440" bIns="45720" rtlCol="0" anchor="b">
            <a:normAutofit fontScale="4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a:solidFill>
                  <a:srgbClr val="F5F0E7"/>
                </a:solidFill>
                <a:latin typeface="PT Serif Caption" panose="02060603050505020204" pitchFamily="18" charset="77"/>
                <a:cs typeface="Apple Chancery" panose="03020702040506060504" pitchFamily="66" charset="-79"/>
              </a:rPr>
              <a:t>30 Day Applied Business Strategy Challenge – Day 1</a:t>
            </a:r>
          </a:p>
        </p:txBody>
      </p:sp>
    </p:spTree>
    <p:extLst>
      <p:ext uri="{BB962C8B-B14F-4D97-AF65-F5344CB8AC3E}">
        <p14:creationId xmlns:p14="http://schemas.microsoft.com/office/powerpoint/2010/main" val="1451054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1827</TotalTime>
  <Words>629</Words>
  <Application>Microsoft Macintosh PowerPoint</Application>
  <PresentationFormat>Widescreen</PresentationFormat>
  <Paragraphs>161</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PT Serif Caption</vt:lpstr>
      <vt:lpstr>Office Theme</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Inaccurate Revenue Forecasting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Vashisht, Eva</dc:creator>
  <cp:lastModifiedBy>Vashisht, Eva</cp:lastModifiedBy>
  <cp:revision>4</cp:revision>
  <dcterms:created xsi:type="dcterms:W3CDTF">2025-11-26T05:41:24Z</dcterms:created>
  <dcterms:modified xsi:type="dcterms:W3CDTF">2025-12-01T01:03:18Z</dcterms:modified>
</cp:coreProperties>
</file>